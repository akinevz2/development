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0" r:id="rId1"/>
  </p:sldMasterIdLst>
  <p:notesMasterIdLst>
    <p:notesMasterId r:id="rId56"/>
  </p:notesMasterIdLst>
  <p:sldIdLst>
    <p:sldId id="257" r:id="rId2"/>
    <p:sldId id="341" r:id="rId3"/>
    <p:sldId id="347" r:id="rId4"/>
    <p:sldId id="300" r:id="rId5"/>
    <p:sldId id="301" r:id="rId6"/>
    <p:sldId id="302" r:id="rId7"/>
    <p:sldId id="303" r:id="rId8"/>
    <p:sldId id="262" r:id="rId9"/>
    <p:sldId id="308" r:id="rId10"/>
    <p:sldId id="309" r:id="rId11"/>
    <p:sldId id="310" r:id="rId12"/>
    <p:sldId id="311" r:id="rId13"/>
    <p:sldId id="259" r:id="rId14"/>
    <p:sldId id="312" r:id="rId15"/>
    <p:sldId id="289" r:id="rId16"/>
    <p:sldId id="285" r:id="rId17"/>
    <p:sldId id="286" r:id="rId18"/>
    <p:sldId id="314" r:id="rId19"/>
    <p:sldId id="287" r:id="rId20"/>
    <p:sldId id="315" r:id="rId21"/>
    <p:sldId id="351" r:id="rId22"/>
    <p:sldId id="265" r:id="rId23"/>
    <p:sldId id="266" r:id="rId24"/>
    <p:sldId id="267" r:id="rId25"/>
    <p:sldId id="268" r:id="rId26"/>
    <p:sldId id="272" r:id="rId27"/>
    <p:sldId id="348" r:id="rId28"/>
    <p:sldId id="284" r:id="rId29"/>
    <p:sldId id="317" r:id="rId30"/>
    <p:sldId id="318" r:id="rId31"/>
    <p:sldId id="319" r:id="rId32"/>
    <p:sldId id="304" r:id="rId33"/>
    <p:sldId id="320" r:id="rId34"/>
    <p:sldId id="305" r:id="rId35"/>
    <p:sldId id="306" r:id="rId36"/>
    <p:sldId id="307" r:id="rId37"/>
    <p:sldId id="321" r:id="rId38"/>
    <p:sldId id="324" r:id="rId39"/>
    <p:sldId id="325" r:id="rId40"/>
    <p:sldId id="326" r:id="rId41"/>
    <p:sldId id="327" r:id="rId42"/>
    <p:sldId id="313" r:id="rId43"/>
    <p:sldId id="329" r:id="rId44"/>
    <p:sldId id="330" r:id="rId45"/>
    <p:sldId id="331" r:id="rId46"/>
    <p:sldId id="332" r:id="rId47"/>
    <p:sldId id="270" r:id="rId48"/>
    <p:sldId id="333" r:id="rId49"/>
    <p:sldId id="334" r:id="rId50"/>
    <p:sldId id="335" r:id="rId51"/>
    <p:sldId id="336" r:id="rId52"/>
    <p:sldId id="337" r:id="rId53"/>
    <p:sldId id="352" r:id="rId54"/>
    <p:sldId id="350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5"/>
    <p:restoredTop sz="94286"/>
  </p:normalViewPr>
  <p:slideViewPr>
    <p:cSldViewPr snapToGrid="0" snapToObjects="1">
      <p:cViewPr varScale="1">
        <p:scale>
          <a:sx n="120" d="100"/>
          <a:sy n="120" d="100"/>
        </p:scale>
        <p:origin x="9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Macro-enabled_Worksheet.xlsm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 sz="513" b="1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/>
              <a:t>Frequency against Rank</a:t>
            </a:r>
          </a:p>
        </c:rich>
      </c:tx>
      <c:overlay val="0"/>
      <c:spPr>
        <a:noFill/>
        <a:ln w="7232">
          <a:noFill/>
        </a:ln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strRef>
              <c:f>[Workbook1]Sheet1!$C$2</c:f>
              <c:strCache>
                <c:ptCount val="1"/>
                <c:pt idx="0">
                  <c:v>Frequency</c:v>
                </c:pt>
              </c:strCache>
            </c:strRef>
          </c:tx>
          <c:spPr>
            <a:ln w="10848">
              <a:solidFill>
                <a:srgbClr val="993366"/>
              </a:solidFill>
              <a:prstDash val="solid"/>
            </a:ln>
          </c:spPr>
          <c:marker>
            <c:spPr>
              <a:gradFill rotWithShape="0">
                <a:gsLst>
                  <a:gs pos="0">
                    <a:srgbClr val="FF9A99"/>
                  </a:gs>
                  <a:gs pos="100000">
                    <a:srgbClr val="D1403C"/>
                  </a:gs>
                </a:gsLst>
                <a:lin ang="5400000"/>
              </a:gradFill>
              <a:ln>
                <a:solidFill>
                  <a:srgbClr val="993366"/>
                </a:solidFill>
                <a:prstDash val="solid"/>
              </a:ln>
              <a:effectLst>
                <a:outerShdw dist="35921" dir="2700000" algn="br">
                  <a:srgbClr val="000000"/>
                </a:outerShdw>
              </a:effectLst>
            </c:spPr>
          </c:marker>
          <c:xVal>
            <c:numRef>
              <c:f>[Workbook1]Sheet1!$A$3:$A$13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[Workbook1]Sheet1!$C$3:$C$13</c:f>
              <c:numCache>
                <c:formatCode>General</c:formatCode>
                <c:ptCount val="11"/>
                <c:pt idx="0">
                  <c:v>8</c:v>
                </c:pt>
                <c:pt idx="1">
                  <c:v>4</c:v>
                </c:pt>
                <c:pt idx="2">
                  <c:v>2.6666666666666665</c:v>
                </c:pt>
                <c:pt idx="3">
                  <c:v>2</c:v>
                </c:pt>
                <c:pt idx="4">
                  <c:v>1.6</c:v>
                </c:pt>
                <c:pt idx="5">
                  <c:v>1.3333333333333333</c:v>
                </c:pt>
                <c:pt idx="6">
                  <c:v>1.1428571428571428</c:v>
                </c:pt>
                <c:pt idx="7">
                  <c:v>1</c:v>
                </c:pt>
                <c:pt idx="8">
                  <c:v>0.88888888888888884</c:v>
                </c:pt>
                <c:pt idx="9">
                  <c:v>0.8</c:v>
                </c:pt>
                <c:pt idx="10">
                  <c:v>23.43174603174603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758-474F-9199-22749AE64A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09092591"/>
        <c:axId val="1"/>
      </c:scatterChart>
      <c:valAx>
        <c:axId val="1909092591"/>
        <c:scaling>
          <c:orientation val="minMax"/>
        </c:scaling>
        <c:delete val="0"/>
        <c:axPos val="b"/>
        <c:majorGridlines>
          <c:spPr>
            <a:ln w="904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904">
            <a:solidFill>
              <a:srgbClr val="808080"/>
            </a:solidFill>
            <a:prstDash val="solid"/>
          </a:ln>
        </c:spPr>
        <c:txPr>
          <a:bodyPr rot="0" vert="horz"/>
          <a:lstStyle/>
          <a:p>
            <a:pPr>
              <a:defRPr sz="285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crossBetween val="midCat"/>
      </c:valAx>
      <c:valAx>
        <c:axId val="1"/>
        <c:scaling>
          <c:orientation val="minMax"/>
          <c:max val="10"/>
        </c:scaling>
        <c:delete val="0"/>
        <c:axPos val="l"/>
        <c:majorGridlines>
          <c:spPr>
            <a:ln w="904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904">
            <a:solidFill>
              <a:srgbClr val="808080"/>
            </a:solidFill>
            <a:prstDash val="solid"/>
          </a:ln>
        </c:spPr>
        <c:txPr>
          <a:bodyPr rot="0" vert="horz"/>
          <a:lstStyle/>
          <a:p>
            <a:pPr>
              <a:defRPr sz="285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909092591"/>
        <c:crosses val="autoZero"/>
        <c:crossBetween val="midCat"/>
      </c:valAx>
      <c:spPr>
        <a:solidFill>
          <a:srgbClr val="FFFFFF"/>
        </a:solidFill>
        <a:ln w="7232">
          <a:noFill/>
        </a:ln>
      </c:spPr>
    </c:plotArea>
    <c:plotVisOnly val="1"/>
    <c:dispBlanksAs val="gap"/>
    <c:showDLblsOverMax val="0"/>
  </c:chart>
  <c:spPr>
    <a:solidFill>
      <a:srgbClr val="FFFFFF"/>
    </a:solidFill>
    <a:ln w="904">
      <a:solidFill>
        <a:srgbClr val="808080"/>
      </a:solidFill>
      <a:prstDash val="solid"/>
    </a:ln>
  </c:spPr>
  <c:txPr>
    <a:bodyPr/>
    <a:lstStyle/>
    <a:p>
      <a:pPr>
        <a:defRPr sz="285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54806-4018-7A41-9614-38C376845D59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2CFFF-83BC-3848-B9DA-4034CA39D2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97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2CFFF-83BC-3848-B9DA-4034CA39D2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61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8A3960-34F9-9940-A4DE-B6997CD947CD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7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8A3960-34F9-9940-A4DE-B6997CD947C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29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reference to WSD?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8A3960-34F9-9940-A4DE-B6997CD947C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86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8A3960-34F9-9940-A4DE-B6997CD947C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17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8A3960-34F9-9940-A4DE-B6997CD947C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35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8A3960-34F9-9940-A4DE-B6997CD947C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262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8A3960-34F9-9940-A4DE-B6997CD947C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04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1" y="0"/>
            <a:ext cx="12191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355848"/>
            <a:ext cx="107696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828800"/>
            <a:ext cx="107696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E58DE-59F6-B042-856A-1249DE67C441}" type="datetime1">
              <a:rPr lang="en-GB" smtClean="0"/>
              <a:t>14/01/2026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L8.1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1377119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476D1-1C72-2F42-8925-4ADD74484F32}" type="datetime1">
              <a:rPr lang="en-GB" smtClean="0"/>
              <a:t>14/01/2026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L8.1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61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12192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744" y="118872"/>
            <a:ext cx="10684256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7552" y="1828800"/>
            <a:ext cx="10696448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D0E51-2BA6-5341-8204-B547E29535EA}" type="datetime1">
              <a:rPr lang="en-GB" smtClean="0"/>
              <a:t>14/01/2026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L8.1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12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73936"/>
            <a:ext cx="53848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73936"/>
            <a:ext cx="53848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30C2C-E13B-804B-A90D-C3B7CC551580}" type="datetime1">
              <a:rPr lang="en-GB" smtClean="0"/>
              <a:t>14/01/2026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L8.1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7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98988"/>
            <a:ext cx="5386917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49512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698988"/>
            <a:ext cx="5389033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49512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E4507-6619-A847-9482-61F13E3B17A7}" type="datetime1">
              <a:rPr lang="en-GB" smtClean="0"/>
              <a:t>14/01/2026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L8.1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53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27B53-298D-DC45-98CA-949F7D8E0061}" type="datetime1">
              <a:rPr lang="en-GB" smtClean="0"/>
              <a:t>14/01/2026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L8.1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1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D7A12-1575-9943-8939-DCA723F2B81E}" type="datetime1">
              <a:rPr lang="en-GB" smtClean="0"/>
              <a:t>14/01/2026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L8.1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5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784" y="152400"/>
            <a:ext cx="3364992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5837" y="1743134"/>
            <a:ext cx="7894188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784" y="1730018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A921B-4D1D-E245-9C04-CCE6F984C3E0}" type="datetime1">
              <a:rPr lang="en-GB" smtClean="0"/>
              <a:t>14/01/2026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L8.1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3807649" y="0"/>
            <a:ext cx="6096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 bwMode="invGray">
          <a:xfrm>
            <a:off x="3807649" y="0"/>
            <a:ext cx="6096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1075482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5448"/>
            <a:ext cx="3366867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71741" y="1484808"/>
            <a:ext cx="8329863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" y="1728216"/>
            <a:ext cx="329184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9456" y="1170432"/>
            <a:ext cx="3364992" cy="201168"/>
          </a:xfrm>
        </p:spPr>
        <p:txBody>
          <a:bodyPr/>
          <a:lstStyle/>
          <a:p>
            <a:fld id="{67D281DD-8947-444F-8A20-F3B1B6364810}" type="datetime1">
              <a:rPr lang="en-GB" smtClean="0"/>
              <a:t>14/01/2026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07649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 bwMode="invGray">
          <a:xfrm>
            <a:off x="3807649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47744" y="1170432"/>
            <a:ext cx="6925056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r>
              <a:rPr lang="en-US"/>
              <a:t>L8.1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119104" y="1170432"/>
            <a:ext cx="978485" cy="201168"/>
          </a:xfrm>
        </p:spPr>
        <p:txBody>
          <a:bodyPr/>
          <a:lstStyle/>
          <a:p>
            <a:fld id="{40A86F5E-3D31-D14D-B404-79DFA617D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372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D922-05CF-5348-AF5E-D21908AECB8E}" type="datetime1">
              <a:rPr lang="en-GB" smtClean="0"/>
              <a:t>14/01/2026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L8.1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59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8798560" y="0"/>
            <a:ext cx="6096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 bwMode="ltGray">
          <a:xfrm>
            <a:off x="8863584" y="0"/>
            <a:ext cx="33528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274641"/>
            <a:ext cx="2540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1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2E8A3-B904-2E48-AAEB-CB0328FDABCC}" type="datetime1">
              <a:rPr lang="en-GB" smtClean="0"/>
              <a:t>14/01/2026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20796" y="6377460"/>
            <a:ext cx="5115205" cy="365125"/>
          </a:xfrm>
        </p:spPr>
        <p:txBody>
          <a:bodyPr/>
          <a:lstStyle/>
          <a:p>
            <a:r>
              <a:rPr lang="en-US"/>
              <a:t>L8.1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75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12192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ctangle 6"/>
          <p:cNvSpPr/>
          <p:nvPr/>
        </p:nvSpPr>
        <p:spPr bwMode="ltGray">
          <a:xfrm>
            <a:off x="1" y="1"/>
            <a:ext cx="12191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75192"/>
            <a:ext cx="109728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6999"/>
            <a:ext cx="28448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549CED76-5076-EB42-950B-D32F0B966648}" type="datetime1">
              <a:rPr lang="en-GB" smtClean="0"/>
              <a:t>14/01/2026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20796" y="6476999"/>
            <a:ext cx="7343625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r>
              <a:rPr lang="en-US"/>
              <a:t>L8.1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9195" y="6476999"/>
            <a:ext cx="978485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40A86F5E-3D31-D14D-B404-79DFA617D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7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oxforddictionaries.com/?utm_source=od-panel&amp;utm_campaign=en" TargetMode="External"/><Relationship Id="rId2" Type="http://schemas.openxmlformats.org/officeDocument/2006/relationships/hyperlink" Target="http://wordnetweb.princeton.edu/perl/webw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ordnet.princeton.edu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7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6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8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Lexical &amp; Distributional Semantics</a:t>
            </a:r>
          </a:p>
        </p:txBody>
      </p:sp>
      <p:pic>
        <p:nvPicPr>
          <p:cNvPr id="4" name="Picture 3" descr="nlp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585" y="5175764"/>
            <a:ext cx="2683921" cy="1538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27461" y="5404207"/>
            <a:ext cx="278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 Julie Weeds, Spring 2026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BBF3E14-3548-6B49-9459-717B4A15BC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AdvNLP</a:t>
            </a:r>
            <a:r>
              <a:rPr lang="en-US" dirty="0"/>
              <a:t>/</a:t>
            </a:r>
            <a:r>
              <a:rPr lang="en-US"/>
              <a:t>E Lecture </a:t>
            </a:r>
            <a:r>
              <a:rPr lang="en-US" dirty="0"/>
              <a:t>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B79A98-5A98-4343-A39F-565EE9F7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78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2BB4-E359-0340-BF7C-E72B3B27C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1 Overview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CDAD20-D751-2442-8FC1-71336D413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F2E513-49EC-BC45-89A7-E3F682CE33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Lexical semantics</a:t>
            </a:r>
          </a:p>
          <a:p>
            <a:pPr lvl="1"/>
            <a:r>
              <a:rPr lang="en-US" dirty="0"/>
              <a:t>word senses</a:t>
            </a:r>
          </a:p>
          <a:p>
            <a:pPr lvl="1"/>
            <a:r>
              <a:rPr lang="en-US" dirty="0"/>
              <a:t>semantic relationships</a:t>
            </a:r>
          </a:p>
          <a:p>
            <a:pPr lvl="1"/>
            <a:r>
              <a:rPr lang="en-US" dirty="0"/>
              <a:t>WordNet</a:t>
            </a:r>
          </a:p>
          <a:p>
            <a:pPr lvl="1"/>
            <a:r>
              <a:rPr lang="en-US" dirty="0"/>
              <a:t>semantic similarity measures based on WordNet</a:t>
            </a:r>
          </a:p>
          <a:p>
            <a:pPr lvl="1"/>
            <a:r>
              <a:rPr lang="en-US" dirty="0"/>
              <a:t>evaluation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D90F6A-F522-6345-A62C-AFDA67954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9EF1E01-6D76-F049-8C59-A556464680C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Distributional Semantics</a:t>
            </a:r>
          </a:p>
          <a:p>
            <a:pPr lvl="1"/>
            <a:r>
              <a:rPr lang="en-US" dirty="0"/>
              <a:t>bootstrapping semantics from context</a:t>
            </a:r>
          </a:p>
          <a:p>
            <a:pPr lvl="1"/>
            <a:r>
              <a:rPr lang="en-US" dirty="0"/>
              <a:t>cosine similarity</a:t>
            </a:r>
          </a:p>
          <a:p>
            <a:pPr lvl="1"/>
            <a:r>
              <a:rPr lang="en-US" dirty="0"/>
              <a:t>(positive) pointwise mutual information</a:t>
            </a:r>
          </a:p>
          <a:p>
            <a:pPr lvl="1"/>
            <a:r>
              <a:rPr lang="en-US" dirty="0"/>
              <a:t>evaluation</a:t>
            </a:r>
          </a:p>
          <a:p>
            <a:pPr lvl="1"/>
            <a:r>
              <a:rPr lang="en-US" dirty="0"/>
              <a:t>word ambiguity</a:t>
            </a:r>
          </a:p>
          <a:p>
            <a:pPr lvl="1"/>
            <a:r>
              <a:rPr lang="en-US" dirty="0"/>
              <a:t>semantic relationships</a:t>
            </a:r>
          </a:p>
          <a:p>
            <a:pPr lvl="1"/>
            <a:r>
              <a:rPr lang="en-US" dirty="0"/>
              <a:t>sparsity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968B1-8BB7-2C4F-BFA0-422D6B99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6B661-07DA-0140-815B-E73CA4E36C46}"/>
              </a:ext>
            </a:extLst>
          </p:cNvPr>
          <p:cNvSpPr txBox="1"/>
          <p:nvPr/>
        </p:nvSpPr>
        <p:spPr>
          <a:xfrm>
            <a:off x="2830947" y="5613826"/>
            <a:ext cx="4057265" cy="300082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b="1" i="1" dirty="0"/>
              <a:t>This might be revision if you have done Applied NLP!</a:t>
            </a:r>
          </a:p>
        </p:txBody>
      </p:sp>
    </p:spTree>
    <p:extLst>
      <p:ext uri="{BB962C8B-B14F-4D97-AF65-F5344CB8AC3E}">
        <p14:creationId xmlns:p14="http://schemas.microsoft.com/office/powerpoint/2010/main" val="2566513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Semantics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30E42-240C-AB45-B3CD-B81261810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1, part 1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B79A98-5A98-4343-A39F-565EE9F7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 descr="nlp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585" y="5175764"/>
            <a:ext cx="2683921" cy="1538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27461" y="5404207"/>
            <a:ext cx="278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 Julie Weeds, Spring 2026</a:t>
            </a:r>
          </a:p>
        </p:txBody>
      </p:sp>
    </p:spTree>
    <p:extLst>
      <p:ext uri="{BB962C8B-B14F-4D97-AF65-F5344CB8AC3E}">
        <p14:creationId xmlns:p14="http://schemas.microsoft.com/office/powerpoint/2010/main" val="1575376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8DAFC-8FB0-EB4C-B93D-AB1054C1C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senses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80686-2043-AB45-9B6B-6AA76A096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267" y="1852128"/>
            <a:ext cx="7772400" cy="962755"/>
          </a:xfrm>
        </p:spPr>
        <p:txBody>
          <a:bodyPr>
            <a:noAutofit/>
          </a:bodyPr>
          <a:lstStyle/>
          <a:p>
            <a:r>
              <a:rPr lang="en-US" sz="2800" dirty="0"/>
              <a:t>Words are often </a:t>
            </a:r>
            <a:r>
              <a:rPr lang="en-US" sz="2800" b="1" dirty="0"/>
              <a:t>ambiguous</a:t>
            </a:r>
          </a:p>
          <a:p>
            <a:r>
              <a:rPr lang="en-US" sz="2800" dirty="0"/>
              <a:t>Words can have </a:t>
            </a:r>
            <a:r>
              <a:rPr lang="en-US" sz="2800" b="1" dirty="0"/>
              <a:t>multiple senses</a:t>
            </a:r>
            <a:r>
              <a:rPr lang="en-US" sz="2800" dirty="0"/>
              <a:t> (i.e., meanings)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F918D-EA1E-7C46-8E81-EE2A1E3F4D19}"/>
              </a:ext>
            </a:extLst>
          </p:cNvPr>
          <p:cNvSpPr txBox="1"/>
          <p:nvPr/>
        </p:nvSpPr>
        <p:spPr>
          <a:xfrm>
            <a:off x="3709262" y="3111595"/>
            <a:ext cx="32271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I placed the book on the </a:t>
            </a:r>
            <a:r>
              <a:rPr lang="en-US" b="1" i="1" dirty="0"/>
              <a:t>counter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D5179-F4E5-DB4E-9B70-8BD8F4FBBD67}"/>
              </a:ext>
            </a:extLst>
          </p:cNvPr>
          <p:cNvSpPr txBox="1"/>
          <p:nvPr/>
        </p:nvSpPr>
        <p:spPr>
          <a:xfrm>
            <a:off x="5136863" y="3623507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AE2BF8-E137-5844-A176-1982CF83D074}"/>
              </a:ext>
            </a:extLst>
          </p:cNvPr>
          <p:cNvSpPr txBox="1"/>
          <p:nvPr/>
        </p:nvSpPr>
        <p:spPr>
          <a:xfrm>
            <a:off x="3367276" y="4135420"/>
            <a:ext cx="38250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i="1" dirty="0"/>
              <a:t>I placed my </a:t>
            </a:r>
            <a:r>
              <a:rPr lang="en-US" b="1" i="1" dirty="0"/>
              <a:t>counter </a:t>
            </a:r>
            <a:r>
              <a:rPr lang="en-US" i="1" dirty="0"/>
              <a:t>on the gameboard</a:t>
            </a:r>
            <a:r>
              <a:rPr lang="en-US" dirty="0"/>
              <a:t>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B06A521-92F3-A143-8AE6-48F241ECEDCB}"/>
              </a:ext>
            </a:extLst>
          </p:cNvPr>
          <p:cNvSpPr txBox="1">
            <a:spLocks/>
          </p:cNvSpPr>
          <p:nvPr/>
        </p:nvSpPr>
        <p:spPr>
          <a:xfrm>
            <a:off x="1064396" y="5313376"/>
            <a:ext cx="8621470" cy="651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0B050"/>
                </a:solidFill>
              </a:rPr>
              <a:t>How many more senses of </a:t>
            </a:r>
            <a:r>
              <a:rPr lang="en-US" sz="2800" b="1" i="1" dirty="0">
                <a:solidFill>
                  <a:srgbClr val="00B050"/>
                </a:solidFill>
              </a:rPr>
              <a:t>counter</a:t>
            </a:r>
            <a:r>
              <a:rPr lang="en-US" sz="2800" dirty="0">
                <a:solidFill>
                  <a:srgbClr val="00B050"/>
                </a:solidFill>
              </a:rPr>
              <a:t> can you think of?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FFB4A2-43EB-F048-AC71-0EAB4A98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38547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427DA-4CB3-7F45-AF95-74ED776C9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F4147-BB2B-F84D-B15C-489FAA972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399" y="1513333"/>
            <a:ext cx="10981267" cy="2296668"/>
          </a:xfrm>
        </p:spPr>
        <p:txBody>
          <a:bodyPr>
            <a:normAutofit/>
          </a:bodyPr>
          <a:lstStyle/>
          <a:p>
            <a:r>
              <a:rPr lang="en-US" b="1" dirty="0"/>
              <a:t>Lexicographers</a:t>
            </a:r>
            <a:r>
              <a:rPr lang="en-US" dirty="0"/>
              <a:t> produce dictionaries which: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enumerate the senses of all of the words in a language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provide definitions of different sense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provide examples of usage of different senses</a:t>
            </a:r>
          </a:p>
          <a:p>
            <a:pPr marL="118872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DC8FDF-0F8D-6445-B562-8830C159514F}"/>
              </a:ext>
            </a:extLst>
          </p:cNvPr>
          <p:cNvSpPr txBox="1">
            <a:spLocks/>
          </p:cNvSpPr>
          <p:nvPr/>
        </p:nvSpPr>
        <p:spPr>
          <a:xfrm>
            <a:off x="1219200" y="4183879"/>
            <a:ext cx="9719995" cy="225789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8872" indent="0">
              <a:buNone/>
            </a:pPr>
            <a:r>
              <a:rPr lang="en-US" b="1" dirty="0"/>
              <a:t>WordNet</a:t>
            </a:r>
            <a:r>
              <a:rPr lang="en-US" dirty="0"/>
              <a:t> online search: </a:t>
            </a:r>
          </a:p>
          <a:p>
            <a:pPr marL="118872" indent="0">
              <a:buNone/>
            </a:pPr>
            <a:r>
              <a:rPr lang="en-US" dirty="0">
                <a:hlinkClick r:id="rId2"/>
              </a:rPr>
              <a:t>http://wordnetweb.princeton.edu/perl/webwn</a:t>
            </a:r>
            <a:endParaRPr lang="en-US" dirty="0"/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b="1" dirty="0"/>
              <a:t>Oxford English Dictionary </a:t>
            </a:r>
            <a:r>
              <a:rPr lang="en-US" dirty="0"/>
              <a:t>online search:</a:t>
            </a:r>
          </a:p>
          <a:p>
            <a:pPr marL="118872" indent="0">
              <a:buNone/>
            </a:pPr>
            <a:r>
              <a:rPr lang="en-US" dirty="0">
                <a:hlinkClick r:id="rId3"/>
              </a:rPr>
              <a:t>https://en.oxforddictionaries.com/?utm_source=od-panel&amp;utm_campaign=en</a:t>
            </a:r>
            <a:endParaRPr lang="en-US" dirty="0"/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E6F91-CD53-2D4A-9B7D-57F24A21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5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6261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many different senses do words have?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410215" y="2368078"/>
          <a:ext cx="2127758" cy="280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27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1552">
                <a:tc>
                  <a:txBody>
                    <a:bodyPr/>
                    <a:lstStyle/>
                    <a:p>
                      <a:r>
                        <a:rPr lang="en-US" sz="2800" dirty="0"/>
                        <a:t>plant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552">
                <a:tc>
                  <a:txBody>
                    <a:bodyPr/>
                    <a:lstStyle/>
                    <a:p>
                      <a:r>
                        <a:rPr lang="en-US" sz="2800" dirty="0"/>
                        <a:t>chicken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552">
                <a:tc>
                  <a:txBody>
                    <a:bodyPr/>
                    <a:lstStyle/>
                    <a:p>
                      <a:r>
                        <a:rPr lang="en-US" sz="2800" dirty="0"/>
                        <a:t>book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552">
                <a:tc>
                  <a:txBody>
                    <a:bodyPr/>
                    <a:lstStyle/>
                    <a:p>
                      <a:r>
                        <a:rPr lang="en-US" sz="2800" dirty="0"/>
                        <a:t>twig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552">
                <a:tc>
                  <a:txBody>
                    <a:bodyPr/>
                    <a:lstStyle/>
                    <a:p>
                      <a:r>
                        <a:rPr lang="en-US" sz="2800" dirty="0"/>
                        <a:t>counter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38387" y="1914261"/>
          <a:ext cx="5503410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9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err="1"/>
                        <a:t>WordNet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Oxford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Noun</a:t>
                      </a:r>
                      <a:r>
                        <a:rPr lang="en-US" sz="2800" baseline="0" dirty="0"/>
                        <a:t>:4, Verb:6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N:6, V:11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Noun:4,</a:t>
                      </a:r>
                      <a:r>
                        <a:rPr lang="en-US" sz="2800" baseline="0" dirty="0"/>
                        <a:t> adJ:1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N:4,</a:t>
                      </a:r>
                      <a:r>
                        <a:rPr lang="en-US" sz="2800" baseline="0" dirty="0"/>
                        <a:t> V:1, J: 1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Noun:</a:t>
                      </a:r>
                      <a:r>
                        <a:rPr lang="en-US" sz="2800" baseline="0" dirty="0"/>
                        <a:t> 11, Verb:4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N:14,V:9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Noun:1, Verb: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N:2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Noun:</a:t>
                      </a:r>
                      <a:r>
                        <a:rPr lang="en-US" sz="2800" baseline="0" dirty="0"/>
                        <a:t> 9, Verb:2, adJ:1, </a:t>
                      </a:r>
                      <a:r>
                        <a:rPr lang="en-US" sz="2800" baseline="0" dirty="0" err="1"/>
                        <a:t>adveRb</a:t>
                      </a:r>
                      <a:r>
                        <a:rPr lang="en-US" sz="2800" baseline="0" dirty="0"/>
                        <a:t>: 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N:13,</a:t>
                      </a:r>
                      <a:r>
                        <a:rPr lang="en-US" sz="2800" baseline="0" dirty="0"/>
                        <a:t> V: 3, J: 1, R: 1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5B3887E-47C9-4B4E-BCE5-59096866B222}"/>
              </a:ext>
            </a:extLst>
          </p:cNvPr>
          <p:cNvSpPr txBox="1"/>
          <p:nvPr/>
        </p:nvSpPr>
        <p:spPr>
          <a:xfrm>
            <a:off x="4738387" y="5771360"/>
            <a:ext cx="6052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Dictionaries do not always agree on this!  </a:t>
            </a:r>
            <a:r>
              <a:rPr lang="en-US" dirty="0">
                <a:solidFill>
                  <a:srgbClr val="00B050"/>
                </a:solidFill>
              </a:rPr>
              <a:t>Why is it so difficult?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CD1D7-F480-A54F-A743-C799C2694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6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4623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EB80F-38DB-D144-A9ED-6669A1AD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Sense distinctions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1A4048-4EBC-1248-B145-79F913107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Homonymy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42485-5DB7-5140-AD33-1E8A1C993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449512"/>
            <a:ext cx="5386917" cy="726825"/>
          </a:xfrm>
        </p:spPr>
        <p:txBody>
          <a:bodyPr/>
          <a:lstStyle/>
          <a:p>
            <a:r>
              <a:rPr lang="en-US" dirty="0"/>
              <a:t>Broad distinctions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A5313B-CBF4-8749-A185-27B298FD2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polysemy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C7BCC6-90C9-BA40-BE0F-E4C1CD1608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3368" y="2449512"/>
            <a:ext cx="5389033" cy="566404"/>
          </a:xfrm>
        </p:spPr>
        <p:txBody>
          <a:bodyPr/>
          <a:lstStyle/>
          <a:p>
            <a:r>
              <a:rPr lang="en-US" dirty="0"/>
              <a:t>fine-grained distinctions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18808B-D662-8345-A1C4-BE6773237B27}"/>
              </a:ext>
            </a:extLst>
          </p:cNvPr>
          <p:cNvSpPr txBox="1"/>
          <p:nvPr/>
        </p:nvSpPr>
        <p:spPr>
          <a:xfrm>
            <a:off x="1046543" y="3141583"/>
            <a:ext cx="700575" cy="4307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plant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3631CA-0813-8947-BBBA-9B62762DD3A0}"/>
              </a:ext>
            </a:extLst>
          </p:cNvPr>
          <p:cNvSpPr txBox="1"/>
          <p:nvPr/>
        </p:nvSpPr>
        <p:spPr>
          <a:xfrm>
            <a:off x="1493680" y="3941279"/>
            <a:ext cx="399970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 living organism, typically growing in a permanent site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BB2633-5CFB-874D-A0E2-7F594B513A47}"/>
              </a:ext>
            </a:extLst>
          </p:cNvPr>
          <p:cNvSpPr txBox="1"/>
          <p:nvPr/>
        </p:nvSpPr>
        <p:spPr>
          <a:xfrm>
            <a:off x="1493680" y="4791721"/>
            <a:ext cx="4026588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 place where an industrial process happens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B40424-AFDC-C34E-B91C-37A665465703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064625" y="3578688"/>
            <a:ext cx="429055" cy="685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90CD44-7D82-8D4A-ADF7-18BF5A2C04E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054431" y="3572374"/>
            <a:ext cx="439249" cy="1542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65E67A5-AC60-5640-8490-3EF75233BC0A}"/>
              </a:ext>
            </a:extLst>
          </p:cNvPr>
          <p:cNvSpPr txBox="1"/>
          <p:nvPr/>
        </p:nvSpPr>
        <p:spPr>
          <a:xfrm>
            <a:off x="6477307" y="3155138"/>
            <a:ext cx="667170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book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BC541D-856E-7B44-BA5C-E89313D2D390}"/>
              </a:ext>
            </a:extLst>
          </p:cNvPr>
          <p:cNvSpPr txBox="1"/>
          <p:nvPr/>
        </p:nvSpPr>
        <p:spPr>
          <a:xfrm>
            <a:off x="6889868" y="3739326"/>
            <a:ext cx="257955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 written or printed work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559451-F4E7-AB4E-9EF4-D91D807D61F1}"/>
              </a:ext>
            </a:extLst>
          </p:cNvPr>
          <p:cNvSpPr txBox="1"/>
          <p:nvPr/>
        </p:nvSpPr>
        <p:spPr>
          <a:xfrm>
            <a:off x="6889868" y="4330199"/>
            <a:ext cx="299117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 bound set of blank sheets for writing in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AC713AD-A2C3-734D-8FD4-C446495A7616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6516391" y="3516840"/>
            <a:ext cx="373477" cy="407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6FCFAE9-3722-8F42-B26A-E0809E8B092F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6502705" y="3524470"/>
            <a:ext cx="387163" cy="1128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0921E1D-F4D0-8D43-ABD0-0ECD8AC71E41}"/>
              </a:ext>
            </a:extLst>
          </p:cNvPr>
          <p:cNvSpPr txBox="1"/>
          <p:nvPr/>
        </p:nvSpPr>
        <p:spPr>
          <a:xfrm>
            <a:off x="7728616" y="5257706"/>
            <a:ext cx="180671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 set of accounts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D75B49-6797-4F42-9A92-03D0B3E6179A}"/>
              </a:ext>
            </a:extLst>
          </p:cNvPr>
          <p:cNvSpPr txBox="1"/>
          <p:nvPr/>
        </p:nvSpPr>
        <p:spPr>
          <a:xfrm>
            <a:off x="7739021" y="5825038"/>
            <a:ext cx="297312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 bookmaker’s record of bets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A14356-9F80-C747-984A-0A86541E0B88}"/>
              </a:ext>
            </a:extLst>
          </p:cNvPr>
          <p:cNvSpPr txBox="1"/>
          <p:nvPr/>
        </p:nvSpPr>
        <p:spPr>
          <a:xfrm>
            <a:off x="7739021" y="6360101"/>
            <a:ext cx="319670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The notebook used by a referee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B6F981-4FB0-A847-8920-A90960595D7A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6990155" y="4992963"/>
            <a:ext cx="738461" cy="449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0F0CDC9-B738-B04E-AD97-2D95927205E9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6919218" y="4976530"/>
            <a:ext cx="819803" cy="1033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6F62522-0472-3749-8D74-92904D01B012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6889868" y="4953837"/>
            <a:ext cx="849153" cy="159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CABF0A9-6B89-DE41-B33C-875ABDFFEAA2}"/>
              </a:ext>
            </a:extLst>
          </p:cNvPr>
          <p:cNvCxnSpPr>
            <a:cxnSpLocks/>
          </p:cNvCxnSpPr>
          <p:nvPr/>
        </p:nvCxnSpPr>
        <p:spPr>
          <a:xfrm>
            <a:off x="6900272" y="4100950"/>
            <a:ext cx="1288646" cy="106708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B381385-A008-DA49-B34C-43799434C1CF}"/>
              </a:ext>
            </a:extLst>
          </p:cNvPr>
          <p:cNvCxnSpPr>
            <a:cxnSpLocks/>
          </p:cNvCxnSpPr>
          <p:nvPr/>
        </p:nvCxnSpPr>
        <p:spPr>
          <a:xfrm>
            <a:off x="1102795" y="3594008"/>
            <a:ext cx="294035" cy="2600362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Slide Number Placeholder 76">
            <a:extLst>
              <a:ext uri="{FF2B5EF4-FFF2-40B4-BE49-F238E27FC236}">
                <a16:creationId xmlns:a16="http://schemas.microsoft.com/office/drawing/2014/main" id="{87CA216F-1DD1-DD48-8AFD-0F12E49F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29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Lexical semantic relationships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synonymy</a:t>
            </a:r>
          </a:p>
          <a:p>
            <a:pPr>
              <a:lnSpc>
                <a:spcPct val="200000"/>
              </a:lnSpc>
            </a:pPr>
            <a:r>
              <a:rPr lang="en-US" sz="2800" dirty="0" err="1"/>
              <a:t>antonymy</a:t>
            </a:r>
            <a:endParaRPr lang="en-US" sz="2800" dirty="0"/>
          </a:p>
          <a:p>
            <a:pPr>
              <a:lnSpc>
                <a:spcPct val="200000"/>
              </a:lnSpc>
            </a:pPr>
            <a:r>
              <a:rPr lang="en-US" sz="2800" dirty="0"/>
              <a:t>hyponymy / hypernymy</a:t>
            </a:r>
          </a:p>
          <a:p>
            <a:pPr>
              <a:lnSpc>
                <a:spcPct val="200000"/>
              </a:lnSpc>
            </a:pPr>
            <a:r>
              <a:rPr lang="en-US" sz="2800" dirty="0" err="1"/>
              <a:t>meronymy</a:t>
            </a:r>
            <a:r>
              <a:rPr lang="en-US" sz="2800" dirty="0"/>
              <a:t> / </a:t>
            </a:r>
            <a:r>
              <a:rPr lang="en-US" sz="2800" dirty="0" err="1"/>
              <a:t>holonymy</a:t>
            </a:r>
            <a:endParaRPr lang="en-US" sz="2800" dirty="0"/>
          </a:p>
          <a:p>
            <a:pPr>
              <a:lnSpc>
                <a:spcPct val="200000"/>
              </a:lnSpc>
            </a:pPr>
            <a:r>
              <a:rPr lang="en-US" sz="2800" dirty="0"/>
              <a:t>topical relatedness</a:t>
            </a:r>
          </a:p>
          <a:p>
            <a:pPr>
              <a:lnSpc>
                <a:spcPct val="200000"/>
              </a:lnSpc>
            </a:pPr>
            <a:endParaRPr lang="en-US" sz="2800" dirty="0"/>
          </a:p>
          <a:p>
            <a:pPr marL="118872" indent="0">
              <a:lnSpc>
                <a:spcPct val="200000"/>
              </a:lnSpc>
              <a:buNone/>
            </a:pP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0640F-8FE2-5540-B85C-A3394017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8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39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D58A-D821-5646-85A5-77553C2C1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Synonymy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20FF-C2E8-3340-AA3B-A97B767AA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01773"/>
            <a:ext cx="10363200" cy="3479798"/>
          </a:xfrm>
        </p:spPr>
        <p:txBody>
          <a:bodyPr>
            <a:noAutofit/>
          </a:bodyPr>
          <a:lstStyle/>
          <a:p>
            <a:r>
              <a:rPr lang="en-US" sz="2800" dirty="0"/>
              <a:t>Words which mean the same thing</a:t>
            </a:r>
          </a:p>
          <a:p>
            <a:r>
              <a:rPr lang="en-US" sz="2800" i="1" dirty="0"/>
              <a:t>Two words are </a:t>
            </a:r>
            <a:r>
              <a:rPr lang="en-US" sz="2800" b="1" i="1" dirty="0"/>
              <a:t>synonymous</a:t>
            </a:r>
            <a:r>
              <a:rPr lang="en-US" sz="2800" i="1" dirty="0"/>
              <a:t> if they can be substituted in all possible contexts without changing the meaning of the utterance.</a:t>
            </a:r>
          </a:p>
          <a:p>
            <a:r>
              <a:rPr lang="en-US" sz="2800" dirty="0"/>
              <a:t>True synonyms are very rare</a:t>
            </a:r>
          </a:p>
          <a:p>
            <a:r>
              <a:rPr lang="en-US" sz="2800" dirty="0"/>
              <a:t>Choice of synonym usually gives us some extra information about the situation or speaker e.g., </a:t>
            </a:r>
            <a:r>
              <a:rPr lang="en-US" sz="2800" i="1" dirty="0"/>
              <a:t>car</a:t>
            </a:r>
            <a:r>
              <a:rPr lang="en-US" sz="2800" dirty="0"/>
              <a:t> vs </a:t>
            </a:r>
            <a:r>
              <a:rPr lang="en-US" sz="2800" i="1" dirty="0"/>
              <a:t>automobile</a:t>
            </a:r>
          </a:p>
          <a:p>
            <a:r>
              <a:rPr lang="en-US" sz="2800" dirty="0"/>
              <a:t>It is often defined as a relationship between word senses rather than between words. e.g., </a:t>
            </a:r>
            <a:r>
              <a:rPr lang="en-US" sz="2800" i="1" dirty="0"/>
              <a:t>plan</a:t>
            </a:r>
            <a:r>
              <a:rPr lang="en-US" sz="2800" dirty="0"/>
              <a:t>t == </a:t>
            </a:r>
            <a:r>
              <a:rPr lang="en-US" sz="2800" i="1" dirty="0"/>
              <a:t>spy</a:t>
            </a:r>
            <a:r>
              <a:rPr lang="en-US" sz="2800" dirty="0"/>
              <a:t>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90E5E2-E180-BE41-9EF7-1173879D9678}"/>
              </a:ext>
            </a:extLst>
          </p:cNvPr>
          <p:cNvSpPr txBox="1"/>
          <p:nvPr/>
        </p:nvSpPr>
        <p:spPr>
          <a:xfrm>
            <a:off x="4136572" y="2237014"/>
            <a:ext cx="554319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5156B-1E20-BA41-86A9-5E41F8C4C053}"/>
              </a:ext>
            </a:extLst>
          </p:cNvPr>
          <p:cNvSpPr txBox="1"/>
          <p:nvPr/>
        </p:nvSpPr>
        <p:spPr>
          <a:xfrm>
            <a:off x="6569530" y="2237014"/>
            <a:ext cx="854721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quickly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02B153-5BE0-5447-A95A-187B44BAF85D}"/>
              </a:ext>
            </a:extLst>
          </p:cNvPr>
          <p:cNvSpPr txBox="1"/>
          <p:nvPr/>
        </p:nvSpPr>
        <p:spPr>
          <a:xfrm>
            <a:off x="5274985" y="2067737"/>
            <a:ext cx="710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4"/>
                </a:solidFill>
              </a:rPr>
              <a:t>==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93698B-E141-704D-9395-7CE4A057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9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4800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BE61-25D3-5342-B648-BCC238D5F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Antonymy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B65AF-1683-CF4A-9CD8-7F2C57B80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777067"/>
            <a:ext cx="10617200" cy="3699931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Words which are opposite in meaning</a:t>
            </a:r>
          </a:p>
          <a:p>
            <a:r>
              <a:rPr lang="en-US" dirty="0"/>
              <a:t>Substituting one for the other would often cause a contradiction:</a:t>
            </a:r>
          </a:p>
          <a:p>
            <a:pPr lvl="1"/>
            <a:r>
              <a:rPr lang="en-US" i="1" dirty="0"/>
              <a:t>The food is hot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The food is cold</a:t>
            </a:r>
            <a:r>
              <a:rPr lang="en-US" dirty="0"/>
              <a:t>.</a:t>
            </a:r>
          </a:p>
          <a:p>
            <a:r>
              <a:rPr lang="en-US" dirty="0"/>
              <a:t>Antonyms are actually very similar in meaning</a:t>
            </a:r>
          </a:p>
          <a:p>
            <a:pPr lvl="1"/>
            <a:r>
              <a:rPr lang="en-US" i="1" dirty="0"/>
              <a:t>hot</a:t>
            </a:r>
            <a:r>
              <a:rPr lang="en-US" dirty="0"/>
              <a:t> and </a:t>
            </a:r>
            <a:r>
              <a:rPr lang="en-US" i="1" dirty="0"/>
              <a:t>cold</a:t>
            </a:r>
            <a:r>
              <a:rPr lang="en-US" dirty="0"/>
              <a:t> both describe the temperature of an object</a:t>
            </a:r>
          </a:p>
          <a:p>
            <a:pPr lvl="1"/>
            <a:r>
              <a:rPr lang="en-US" i="1" dirty="0"/>
              <a:t>rise</a:t>
            </a:r>
            <a:r>
              <a:rPr lang="en-US" dirty="0"/>
              <a:t> and </a:t>
            </a:r>
            <a:r>
              <a:rPr lang="en-US" i="1" dirty="0"/>
              <a:t>fall</a:t>
            </a:r>
            <a:r>
              <a:rPr lang="en-US" dirty="0"/>
              <a:t> both describe an object which is moving in the vertical plane</a:t>
            </a:r>
          </a:p>
          <a:p>
            <a:r>
              <a:rPr lang="en-US" dirty="0"/>
              <a:t>Most antonym pairs are adjectives, verbs or adverbs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BF03CE-58D7-DC49-ABB8-595F082A3F7D}"/>
              </a:ext>
            </a:extLst>
          </p:cNvPr>
          <p:cNvSpPr txBox="1"/>
          <p:nvPr/>
        </p:nvSpPr>
        <p:spPr>
          <a:xfrm>
            <a:off x="3891643" y="2093976"/>
            <a:ext cx="519694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8682A-5500-C749-90C6-BF35AB8104FF}"/>
              </a:ext>
            </a:extLst>
          </p:cNvPr>
          <p:cNvSpPr txBox="1"/>
          <p:nvPr/>
        </p:nvSpPr>
        <p:spPr>
          <a:xfrm>
            <a:off x="6716487" y="2093976"/>
            <a:ext cx="585417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84ED4-AE80-0E4A-A5E1-B3FC228D8CD3}"/>
              </a:ext>
            </a:extLst>
          </p:cNvPr>
          <p:cNvSpPr txBox="1"/>
          <p:nvPr/>
        </p:nvSpPr>
        <p:spPr>
          <a:xfrm>
            <a:off x="5192553" y="1924699"/>
            <a:ext cx="7427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≠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E53ED55-7C5B-5349-8EF9-CA61611A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10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259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88E3-334C-D04C-87E6-7AF9156E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Hyponymy and Hypernymy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FFF8-BD14-C841-A56E-BED5D11BB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3518440"/>
            <a:ext cx="10617200" cy="297488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Linguistic terms which capture the idea of class inclusion</a:t>
            </a:r>
          </a:p>
          <a:p>
            <a:r>
              <a:rPr lang="en-US" dirty="0"/>
              <a:t>A </a:t>
            </a:r>
            <a:r>
              <a:rPr lang="en-US" i="1" dirty="0"/>
              <a:t>dog</a:t>
            </a:r>
            <a:r>
              <a:rPr lang="en-US" dirty="0"/>
              <a:t> is a type of </a:t>
            </a:r>
            <a:r>
              <a:rPr lang="en-US" i="1" dirty="0"/>
              <a:t>animal</a:t>
            </a:r>
            <a:r>
              <a:rPr lang="en-US" dirty="0"/>
              <a:t> so:</a:t>
            </a:r>
          </a:p>
          <a:p>
            <a:pPr lvl="1"/>
            <a:r>
              <a:rPr lang="en-US" i="1" dirty="0"/>
              <a:t>dog</a:t>
            </a:r>
            <a:r>
              <a:rPr lang="en-US" dirty="0"/>
              <a:t> is a </a:t>
            </a:r>
            <a:r>
              <a:rPr lang="en-US" b="1" dirty="0"/>
              <a:t>hyponym</a:t>
            </a:r>
            <a:r>
              <a:rPr lang="en-US" dirty="0"/>
              <a:t> of </a:t>
            </a:r>
            <a:r>
              <a:rPr lang="en-US" i="1" dirty="0"/>
              <a:t>animal</a:t>
            </a:r>
          </a:p>
          <a:p>
            <a:pPr lvl="1"/>
            <a:r>
              <a:rPr lang="en-US" i="1" dirty="0"/>
              <a:t>animal</a:t>
            </a:r>
            <a:r>
              <a:rPr lang="en-US" dirty="0"/>
              <a:t> is a </a:t>
            </a:r>
            <a:r>
              <a:rPr lang="en-US" b="1" dirty="0"/>
              <a:t>hypernym</a:t>
            </a:r>
            <a:r>
              <a:rPr lang="en-US" dirty="0"/>
              <a:t> of </a:t>
            </a:r>
            <a:r>
              <a:rPr lang="en-US" i="1" dirty="0"/>
              <a:t>dog</a:t>
            </a:r>
            <a:r>
              <a:rPr lang="en-US" dirty="0"/>
              <a:t> </a:t>
            </a:r>
          </a:p>
          <a:p>
            <a:r>
              <a:rPr lang="en-US" dirty="0"/>
              <a:t>It’s a transitive relationship so </a:t>
            </a:r>
          </a:p>
          <a:p>
            <a:pPr lvl="1"/>
            <a:r>
              <a:rPr lang="en-US" dirty="0"/>
              <a:t>If </a:t>
            </a:r>
            <a:r>
              <a:rPr lang="en-US" i="1" dirty="0"/>
              <a:t>dog</a:t>
            </a:r>
            <a:r>
              <a:rPr lang="en-US" dirty="0"/>
              <a:t> is a hyponym of </a:t>
            </a:r>
            <a:r>
              <a:rPr lang="en-US" i="1" dirty="0"/>
              <a:t>animal</a:t>
            </a:r>
          </a:p>
          <a:p>
            <a:pPr lvl="1"/>
            <a:r>
              <a:rPr lang="en-US" dirty="0"/>
              <a:t>And </a:t>
            </a:r>
            <a:r>
              <a:rPr lang="en-US" i="1" dirty="0"/>
              <a:t>poodle</a:t>
            </a:r>
            <a:r>
              <a:rPr lang="en-US" dirty="0"/>
              <a:t> is a hyponym of </a:t>
            </a:r>
            <a:r>
              <a:rPr lang="en-US" i="1" dirty="0"/>
              <a:t>dog</a:t>
            </a:r>
          </a:p>
          <a:p>
            <a:pPr lvl="1"/>
            <a:r>
              <a:rPr lang="en-US" i="1" dirty="0"/>
              <a:t>Poodle</a:t>
            </a:r>
            <a:r>
              <a:rPr lang="en-US" dirty="0"/>
              <a:t> is also a hyponym of </a:t>
            </a:r>
            <a:r>
              <a:rPr lang="en-US" i="1" dirty="0"/>
              <a:t>animal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D26045-5343-F640-84AC-B5A6128DB48F}"/>
              </a:ext>
            </a:extLst>
          </p:cNvPr>
          <p:cNvSpPr txBox="1"/>
          <p:nvPr/>
        </p:nvSpPr>
        <p:spPr>
          <a:xfrm>
            <a:off x="4022272" y="2093976"/>
            <a:ext cx="553357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dog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21C50B-4C33-B54B-B032-EC33BECB7477}"/>
              </a:ext>
            </a:extLst>
          </p:cNvPr>
          <p:cNvSpPr txBox="1"/>
          <p:nvPr/>
        </p:nvSpPr>
        <p:spPr>
          <a:xfrm>
            <a:off x="6291944" y="2093976"/>
            <a:ext cx="830677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animal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8AF701-BFB5-7E4D-A3C4-82798FA01830}"/>
              </a:ext>
            </a:extLst>
          </p:cNvPr>
          <p:cNvSpPr txBox="1"/>
          <p:nvPr/>
        </p:nvSpPr>
        <p:spPr>
          <a:xfrm>
            <a:off x="5204626" y="1909310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11F16-1705-284F-8F4C-A99AD6280F24}"/>
              </a:ext>
            </a:extLst>
          </p:cNvPr>
          <p:cNvSpPr txBox="1"/>
          <p:nvPr/>
        </p:nvSpPr>
        <p:spPr>
          <a:xfrm>
            <a:off x="3140530" y="2922814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hyponym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D2DCAA-5DEE-0742-AA04-039079D1E671}"/>
              </a:ext>
            </a:extLst>
          </p:cNvPr>
          <p:cNvSpPr txBox="1"/>
          <p:nvPr/>
        </p:nvSpPr>
        <p:spPr>
          <a:xfrm>
            <a:off x="6291943" y="2906486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hypernym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4C888A-0E9B-344A-80AC-F74B4E06D2F9}"/>
              </a:ext>
            </a:extLst>
          </p:cNvPr>
          <p:cNvCxnSpPr>
            <a:stCxn id="7" idx="0"/>
            <a:endCxn id="4" idx="2"/>
          </p:cNvCxnSpPr>
          <p:nvPr/>
        </p:nvCxnSpPr>
        <p:spPr>
          <a:xfrm flipV="1">
            <a:off x="3684108" y="2463308"/>
            <a:ext cx="614842" cy="459506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4B1172-B00E-0C4D-8922-4386E0AEF766}"/>
              </a:ext>
            </a:extLst>
          </p:cNvPr>
          <p:cNvCxnSpPr>
            <a:stCxn id="8" idx="0"/>
            <a:endCxn id="5" idx="2"/>
          </p:cNvCxnSpPr>
          <p:nvPr/>
        </p:nvCxnSpPr>
        <p:spPr>
          <a:xfrm flipH="1" flipV="1">
            <a:off x="6707282" y="2463308"/>
            <a:ext cx="162704" cy="443178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9843017-16E4-B846-BC79-142F1295F372}"/>
              </a:ext>
            </a:extLst>
          </p:cNvPr>
          <p:cNvSpPr txBox="1"/>
          <p:nvPr/>
        </p:nvSpPr>
        <p:spPr>
          <a:xfrm>
            <a:off x="8355626" y="4265678"/>
            <a:ext cx="830677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animal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01DD41-0464-6041-8B6A-4E15B0E49CCF}"/>
              </a:ext>
            </a:extLst>
          </p:cNvPr>
          <p:cNvSpPr txBox="1"/>
          <p:nvPr/>
        </p:nvSpPr>
        <p:spPr>
          <a:xfrm>
            <a:off x="8420422" y="5230850"/>
            <a:ext cx="553357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dog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C5BCC6-1301-E34A-9BBD-DD99317CE88D}"/>
              </a:ext>
            </a:extLst>
          </p:cNvPr>
          <p:cNvSpPr txBox="1"/>
          <p:nvPr/>
        </p:nvSpPr>
        <p:spPr>
          <a:xfrm>
            <a:off x="8312344" y="6077805"/>
            <a:ext cx="845103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poodle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5004E95-1A8F-E84C-8B4B-F93C10601C0B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8697100" y="4642281"/>
            <a:ext cx="1" cy="588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C950EF2-86C2-AE49-B897-7BB6966F8A32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8697101" y="5600182"/>
            <a:ext cx="0" cy="447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C988987-4DB8-7D48-A544-50BA6665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11</a:t>
            </a:fld>
            <a:endParaRPr kumimoji="0"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FF41B-20D6-3E4A-997E-586506CF5049}"/>
              </a:ext>
            </a:extLst>
          </p:cNvPr>
          <p:cNvSpPr/>
          <p:nvPr/>
        </p:nvSpPr>
        <p:spPr>
          <a:xfrm>
            <a:off x="8770964" y="5678611"/>
            <a:ext cx="5132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ISA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D52998-B5AA-1A47-A396-D1A0578EE6E9}"/>
              </a:ext>
            </a:extLst>
          </p:cNvPr>
          <p:cNvSpPr/>
          <p:nvPr/>
        </p:nvSpPr>
        <p:spPr>
          <a:xfrm>
            <a:off x="8770964" y="4765602"/>
            <a:ext cx="5132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ISA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2A4CBE-A9BD-5947-9A93-6DBF09BAFB9D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575629" y="2278642"/>
            <a:ext cx="1716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25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5" grpId="0" animBg="1"/>
      <p:bldP spid="36" grpId="0" animBg="1"/>
      <p:bldP spid="37" grpId="0" animBg="1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9EE69-E99A-E14C-B3E8-EE3EAD02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Hyponym Hierarchies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73F01-4060-164C-A63A-09BF566CC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102" y="1789705"/>
            <a:ext cx="4509698" cy="3916827"/>
          </a:xfrm>
        </p:spPr>
        <p:txBody>
          <a:bodyPr>
            <a:noAutofit/>
          </a:bodyPr>
          <a:lstStyle/>
          <a:p>
            <a:r>
              <a:rPr lang="en-US" sz="2800" dirty="0"/>
              <a:t>The hyponymy relationship links together large numbers of concepts in a tree or hierarchy </a:t>
            </a:r>
          </a:p>
          <a:p>
            <a:r>
              <a:rPr lang="en-US" sz="2800" dirty="0"/>
              <a:t>Most general superclass at the top</a:t>
            </a:r>
          </a:p>
          <a:p>
            <a:r>
              <a:rPr lang="en-US" sz="2800" dirty="0"/>
              <a:t>Most specific types at the leaves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74F41F-950B-4445-AD84-5D59172E2193}"/>
              </a:ext>
            </a:extLst>
          </p:cNvPr>
          <p:cNvGrpSpPr/>
          <p:nvPr/>
        </p:nvGrpSpPr>
        <p:grpSpPr>
          <a:xfrm>
            <a:off x="6535199" y="2093976"/>
            <a:ext cx="2804272" cy="2126746"/>
            <a:chOff x="5664342" y="4335974"/>
            <a:chExt cx="2804272" cy="212674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55BFDD-4F82-EA47-951F-DBF18CB0C04E}"/>
                </a:ext>
              </a:extLst>
            </p:cNvPr>
            <p:cNvSpPr txBox="1"/>
            <p:nvPr/>
          </p:nvSpPr>
          <p:spPr>
            <a:xfrm>
              <a:off x="7089291" y="4335974"/>
              <a:ext cx="830677" cy="369332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5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animal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F9F6BF7-7CB1-6E48-A7C9-ADC8F61A81AF}"/>
                </a:ext>
              </a:extLst>
            </p:cNvPr>
            <p:cNvSpPr txBox="1"/>
            <p:nvPr/>
          </p:nvSpPr>
          <p:spPr>
            <a:xfrm>
              <a:off x="6518657" y="5280225"/>
              <a:ext cx="553357" cy="369332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C237BC7-50E5-F346-B3A6-E5E4C7C6A441}"/>
                </a:ext>
              </a:extLst>
            </p:cNvPr>
            <p:cNvSpPr txBox="1"/>
            <p:nvPr/>
          </p:nvSpPr>
          <p:spPr>
            <a:xfrm>
              <a:off x="5664342" y="6092735"/>
              <a:ext cx="845103" cy="369332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poodle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3D62CC2-5F45-3349-A8A3-0E50901E7029}"/>
                </a:ext>
              </a:extLst>
            </p:cNvPr>
            <p:cNvSpPr txBox="1"/>
            <p:nvPr/>
          </p:nvSpPr>
          <p:spPr>
            <a:xfrm>
              <a:off x="7089291" y="6093388"/>
              <a:ext cx="779381" cy="369332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terrier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3985A5-26FF-EF48-95B1-D7785A17E29F}"/>
                </a:ext>
              </a:extLst>
            </p:cNvPr>
            <p:cNvSpPr txBox="1"/>
            <p:nvPr/>
          </p:nvSpPr>
          <p:spPr>
            <a:xfrm>
              <a:off x="7972965" y="5263897"/>
              <a:ext cx="495649" cy="369332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B2546AA-AD4A-5641-97D3-BDD6D7BABBAE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6795336" y="4713471"/>
              <a:ext cx="537151" cy="5667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DCC57A8-AC41-8B48-9FD2-48C7D5DE5697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7804997" y="4713470"/>
              <a:ext cx="415793" cy="5504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684AE76-46D1-1E46-9860-FBC011219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4182" y="5649557"/>
              <a:ext cx="550065" cy="4431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48F7FD1-963C-AB4A-BE39-3FF9A88270BE}"/>
                </a:ext>
              </a:extLst>
            </p:cNvPr>
            <p:cNvCxnSpPr/>
            <p:nvPr/>
          </p:nvCxnSpPr>
          <p:spPr>
            <a:xfrm flipH="1" flipV="1">
              <a:off x="6955971" y="5649557"/>
              <a:ext cx="581519" cy="4431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9B92CDA-D46F-2B4F-8059-13153DF8F2E9}"/>
              </a:ext>
            </a:extLst>
          </p:cNvPr>
          <p:cNvSpPr/>
          <p:nvPr/>
        </p:nvSpPr>
        <p:spPr>
          <a:xfrm rot="5400000">
            <a:off x="7517026" y="3976929"/>
            <a:ext cx="352351" cy="102028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BBA8AB-E69B-8544-9A66-29EC1685CAE8}"/>
              </a:ext>
            </a:extLst>
          </p:cNvPr>
          <p:cNvSpPr txBox="1"/>
          <p:nvPr/>
        </p:nvSpPr>
        <p:spPr>
          <a:xfrm>
            <a:off x="6535200" y="4882244"/>
            <a:ext cx="3969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Words which share a common hypernym are called </a:t>
            </a:r>
            <a:r>
              <a:rPr lang="en-US" b="1" dirty="0"/>
              <a:t>co-hyponyms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4C2EDBD-E66A-1F4B-853E-13E3DC24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12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17376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WordNet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29734" y="2099734"/>
            <a:ext cx="971973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/>
              <a:t>More than an electronic dictionary!</a:t>
            </a:r>
          </a:p>
          <a:p>
            <a:endParaRPr lang="en-US" sz="2800" dirty="0"/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See </a:t>
            </a:r>
            <a:r>
              <a:rPr lang="en-US" sz="2800" dirty="0">
                <a:hlinkClick r:id="rId2"/>
              </a:rPr>
              <a:t>http://wordnet.princeton.edu</a:t>
            </a:r>
            <a:r>
              <a:rPr lang="en-US" sz="2800" dirty="0"/>
              <a:t> for more general information</a:t>
            </a:r>
          </a:p>
          <a:p>
            <a:pPr marL="457200" indent="-457200">
              <a:buFont typeface="Arial"/>
              <a:buChar char="•"/>
            </a:pPr>
            <a:endParaRPr lang="en-US" sz="2800" dirty="0"/>
          </a:p>
          <a:p>
            <a:pPr marL="457200" indent="-457200">
              <a:buFont typeface="Arial"/>
              <a:buChar char="•"/>
            </a:pPr>
            <a:r>
              <a:rPr lang="en-US" sz="2800" dirty="0"/>
              <a:t>Or see: Christiane </a:t>
            </a:r>
            <a:r>
              <a:rPr lang="en-US" sz="2800" dirty="0" err="1"/>
              <a:t>Fellbaum</a:t>
            </a:r>
            <a:r>
              <a:rPr lang="en-US" sz="2800" dirty="0"/>
              <a:t> (1998, ed.) </a:t>
            </a:r>
            <a:r>
              <a:rPr lang="en-US" sz="2800" i="1" dirty="0"/>
              <a:t>WordNet: An Electronic Lexical Database</a:t>
            </a:r>
            <a:r>
              <a:rPr lang="en-US" sz="2800" dirty="0"/>
              <a:t>. MIT Press.</a:t>
            </a:r>
          </a:p>
          <a:p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EE07F-CDD8-6644-BC73-F2409332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13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29217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2F47-6B01-EC46-99DC-4202E7A78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WordNet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5F389-4010-3540-940B-4F45D73B8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64754"/>
            <a:ext cx="8024197" cy="4949405"/>
          </a:xfrm>
        </p:spPr>
        <p:txBody>
          <a:bodyPr>
            <a:noAutofit/>
          </a:bodyPr>
          <a:lstStyle/>
          <a:p>
            <a:r>
              <a:rPr lang="en-US" sz="2800" dirty="0"/>
              <a:t>A linguistic network organized around synonymy and hyponymy</a:t>
            </a:r>
          </a:p>
          <a:p>
            <a:r>
              <a:rPr lang="en-US" sz="2800" dirty="0"/>
              <a:t>Core unit is the </a:t>
            </a:r>
            <a:r>
              <a:rPr lang="en-US" sz="2800" b="1" dirty="0" err="1"/>
              <a:t>synset</a:t>
            </a:r>
            <a:endParaRPr lang="en-US" sz="2800" b="1" dirty="0"/>
          </a:p>
          <a:p>
            <a:pPr lvl="1"/>
            <a:r>
              <a:rPr lang="en-US" sz="2400" dirty="0"/>
              <a:t>a set of synonymous word senses</a:t>
            </a:r>
            <a:r>
              <a:rPr lang="en-GB" sz="2400" dirty="0"/>
              <a:t> </a:t>
            </a:r>
          </a:p>
          <a:p>
            <a:pPr lvl="1"/>
            <a:r>
              <a:rPr lang="en-US" sz="2400" dirty="0"/>
              <a:t>a set may contain a single word</a:t>
            </a:r>
          </a:p>
          <a:p>
            <a:pPr lvl="1"/>
            <a:r>
              <a:rPr lang="en-US" sz="2400" dirty="0" err="1"/>
              <a:t>synset</a:t>
            </a:r>
            <a:r>
              <a:rPr lang="en-US" sz="2400" dirty="0"/>
              <a:t> items may be bigrams (e.g., “plant life”) as well as unigrams</a:t>
            </a:r>
          </a:p>
          <a:p>
            <a:pPr lvl="1"/>
            <a:r>
              <a:rPr lang="en-US" sz="2400" dirty="0"/>
              <a:t>each </a:t>
            </a:r>
            <a:r>
              <a:rPr lang="en-US" sz="2400" dirty="0" err="1"/>
              <a:t>synset</a:t>
            </a:r>
            <a:r>
              <a:rPr lang="en-US" sz="2400" dirty="0"/>
              <a:t> is also associated with a single definition</a:t>
            </a:r>
          </a:p>
          <a:p>
            <a:r>
              <a:rPr lang="en-US" sz="2800" dirty="0"/>
              <a:t>Polysemous words appear in multiple </a:t>
            </a:r>
            <a:r>
              <a:rPr lang="en-US" sz="2800" dirty="0" err="1"/>
              <a:t>synsets</a:t>
            </a:r>
            <a:endParaRPr lang="en-US" sz="2800" dirty="0"/>
          </a:p>
          <a:p>
            <a:pPr lvl="1"/>
            <a:r>
              <a:rPr lang="en-US" dirty="0"/>
              <a:t>One for each sense</a:t>
            </a:r>
          </a:p>
          <a:p>
            <a:r>
              <a:rPr lang="en-US" sz="2800" dirty="0" err="1"/>
              <a:t>Synsets</a:t>
            </a:r>
            <a:r>
              <a:rPr lang="en-US" sz="2800" dirty="0"/>
              <a:t> are then connected via hyponymy…..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041D7-A018-DB45-BB1F-B245BFFFDE22}"/>
              </a:ext>
            </a:extLst>
          </p:cNvPr>
          <p:cNvSpPr txBox="1"/>
          <p:nvPr/>
        </p:nvSpPr>
        <p:spPr>
          <a:xfrm>
            <a:off x="8708571" y="1801407"/>
            <a:ext cx="28738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 {</a:t>
            </a:r>
            <a:r>
              <a:rPr lang="en-GB" b="1" dirty="0"/>
              <a:t>plant, flora, plant life</a:t>
            </a:r>
            <a:r>
              <a:rPr lang="en-GB" dirty="0"/>
              <a:t>} = a living organism lacking the power of locomotion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914B7-27B4-B24A-A4BF-5F14CC588F76}"/>
              </a:ext>
            </a:extLst>
          </p:cNvPr>
          <p:cNvSpPr txBox="1"/>
          <p:nvPr/>
        </p:nvSpPr>
        <p:spPr>
          <a:xfrm>
            <a:off x="8708571" y="5392437"/>
            <a:ext cx="287382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{</a:t>
            </a:r>
            <a:r>
              <a:rPr lang="en-US" b="1" dirty="0"/>
              <a:t>plant, works, industrial plant</a:t>
            </a:r>
            <a:r>
              <a:rPr lang="en-US" dirty="0"/>
              <a:t>} = buildings for carrying on industrial </a:t>
            </a:r>
            <a:r>
              <a:rPr lang="en-US" dirty="0" err="1"/>
              <a:t>labour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52D20E-A47D-504E-B527-69FEE6D021AB}"/>
              </a:ext>
            </a:extLst>
          </p:cNvPr>
          <p:cNvSpPr txBox="1"/>
          <p:nvPr/>
        </p:nvSpPr>
        <p:spPr>
          <a:xfrm>
            <a:off x="8708571" y="3607179"/>
            <a:ext cx="2873829" cy="914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{plant} </a:t>
            </a:r>
            <a:r>
              <a:rPr lang="en-US" dirty="0"/>
              <a:t>= something planted secretly for discovery by another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DE2A9B7-784F-F445-8B2C-42C8B616A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810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Extract from the </a:t>
            </a:r>
            <a:r>
              <a:rPr lang="en-US" dirty="0" err="1"/>
              <a:t>WordNet</a:t>
            </a:r>
            <a:r>
              <a:rPr lang="en-US" dirty="0"/>
              <a:t> noun hierarchy</a:t>
            </a:r>
          </a:p>
        </p:txBody>
      </p:sp>
      <p:pic>
        <p:nvPicPr>
          <p:cNvPr id="4" name="Content Placeholder 3" descr="Screenshot 2017-01-29 09.51.26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" r="930"/>
          <a:stretch>
            <a:fillRect/>
          </a:stretch>
        </p:blipFill>
        <p:spPr>
          <a:xfrm>
            <a:off x="1879600" y="1775192"/>
            <a:ext cx="8270644" cy="4648678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FB385-FBDF-8442-990A-21045107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15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98971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Semantic similarity based on </a:t>
            </a:r>
            <a:r>
              <a:rPr lang="en-US" dirty="0" err="1"/>
              <a:t>WordNet</a:t>
            </a:r>
            <a:endParaRPr lang="en-US" dirty="0"/>
          </a:p>
        </p:txBody>
      </p:sp>
      <p:pic>
        <p:nvPicPr>
          <p:cNvPr id="4" name="Content Placeholder 3" descr="Screenshot 2017-01-29 09.51.26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" r="930"/>
          <a:stretch>
            <a:fillRect/>
          </a:stretch>
        </p:blipFill>
        <p:spPr>
          <a:xfrm>
            <a:off x="629357" y="1670784"/>
            <a:ext cx="8169044" cy="4591572"/>
          </a:xfrm>
        </p:spPr>
      </p:pic>
      <p:sp>
        <p:nvSpPr>
          <p:cNvPr id="5" name="TextBox 4"/>
          <p:cNvSpPr txBox="1"/>
          <p:nvPr/>
        </p:nvSpPr>
        <p:spPr>
          <a:xfrm>
            <a:off x="9272534" y="2027578"/>
            <a:ext cx="2309866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6600"/>
                </a:solidFill>
              </a:rPr>
              <a:t>Intuition: More similar concepts are closer together in the hierarchy.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447F0-B2F3-0F40-8220-0A38F164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16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975547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72609"/>
            <a:ext cx="8229600" cy="1252728"/>
          </a:xfrm>
        </p:spPr>
        <p:txBody>
          <a:bodyPr>
            <a:normAutofit fontScale="90000"/>
          </a:bodyPr>
          <a:lstStyle/>
          <a:p>
            <a:r>
              <a:rPr lang="en-US" dirty="0"/>
              <a:t>Path length: </a:t>
            </a:r>
            <a:br>
              <a:rPr lang="en-US" dirty="0"/>
            </a:br>
            <a:r>
              <a:rPr lang="en-US" dirty="0"/>
              <a:t>shorter path -&gt; greater similarity</a:t>
            </a:r>
          </a:p>
        </p:txBody>
      </p:sp>
      <p:pic>
        <p:nvPicPr>
          <p:cNvPr id="4" name="Content Placeholder 3" descr="Screenshot 2017-01-29 09.51.26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" r="930"/>
          <a:stretch>
            <a:fillRect/>
          </a:stretch>
        </p:blipFill>
        <p:spPr>
          <a:xfrm>
            <a:off x="399224" y="1898287"/>
            <a:ext cx="8169044" cy="4591572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D393A75-A62A-D34D-AAA4-E8F548CFBB9F}"/>
              </a:ext>
            </a:extLst>
          </p:cNvPr>
          <p:cNvGrpSpPr/>
          <p:nvPr/>
        </p:nvGrpSpPr>
        <p:grpSpPr>
          <a:xfrm>
            <a:off x="9059334" y="2158927"/>
            <a:ext cx="2668604" cy="1905073"/>
            <a:chOff x="6588336" y="1976810"/>
            <a:chExt cx="3595000" cy="2043112"/>
          </a:xfrm>
        </p:grpSpPr>
        <p:sp>
          <p:nvSpPr>
            <p:cNvPr id="7" name="TextBox 6"/>
            <p:cNvSpPr txBox="1"/>
            <p:nvPr/>
          </p:nvSpPr>
          <p:spPr>
            <a:xfrm>
              <a:off x="6588336" y="2068070"/>
              <a:ext cx="3595000" cy="193899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6600"/>
                  </a:solidFill>
                </a:rPr>
                <a:t>  </a:t>
              </a:r>
            </a:p>
            <a:p>
              <a:endParaRPr lang="en-US" sz="2400" dirty="0">
                <a:solidFill>
                  <a:srgbClr val="FF6600"/>
                </a:solidFill>
              </a:endParaRPr>
            </a:p>
            <a:p>
              <a:endParaRPr lang="en-US" sz="2400" dirty="0">
                <a:solidFill>
                  <a:srgbClr val="FF6600"/>
                </a:solidFill>
              </a:endParaRPr>
            </a:p>
            <a:p>
              <a:endParaRPr lang="en-US" sz="2400" dirty="0">
                <a:solidFill>
                  <a:srgbClr val="FF6600"/>
                </a:solidFill>
              </a:endParaRPr>
            </a:p>
            <a:p>
              <a:endParaRPr lang="en-US" sz="2400" dirty="0">
                <a:solidFill>
                  <a:srgbClr val="FF6600"/>
                </a:solidFill>
              </a:endParaRPr>
            </a:p>
          </p:txBody>
        </p:sp>
        <p:graphicFrame>
          <p:nvGraphicFramePr>
            <p:cNvPr id="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8594538"/>
                </p:ext>
              </p:extLst>
            </p:nvPr>
          </p:nvGraphicFramePr>
          <p:xfrm>
            <a:off x="6747536" y="1976810"/>
            <a:ext cx="3276600" cy="2043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079500" imgH="673100" progId="Equation.3">
                    <p:embed/>
                  </p:oleObj>
                </mc:Choice>
                <mc:Fallback>
                  <p:oleObj name="Equation" r:id="rId3" imgW="1079500" imgH="673100" progId="Equation.3">
                    <p:embed/>
                    <p:pic>
                      <p:nvPicPr>
                        <p:cNvPr id="6" name="Object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747536" y="1976810"/>
                          <a:ext cx="3276600" cy="20431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621DA0-59D4-624F-BE2E-92A94881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17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34240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98B6-CCC3-E340-A681-74B02061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Potential problems with pathlength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0055A-E37B-BC44-B084-2FE498DAD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/>
              <a:buChar char="•"/>
            </a:pPr>
            <a:r>
              <a:rPr lang="en-US" dirty="0"/>
              <a:t>Pathlength does not differentiate between different types of path e.g., </a:t>
            </a:r>
            <a:r>
              <a:rPr lang="en-US" i="1" dirty="0"/>
              <a:t>canine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…  </a:t>
            </a:r>
            <a:r>
              <a:rPr lang="en-US" i="1" dirty="0"/>
              <a:t>vertebrate</a:t>
            </a:r>
            <a:r>
              <a:rPr lang="en-US" dirty="0"/>
              <a:t> vs </a:t>
            </a:r>
            <a:r>
              <a:rPr lang="en-US" i="1" dirty="0"/>
              <a:t>dog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…  </a:t>
            </a:r>
            <a:r>
              <a:rPr lang="en-US" i="1" dirty="0">
                <a:sym typeface="Wingdings" pitchFamily="2" charset="2"/>
              </a:rPr>
              <a:t>cat</a:t>
            </a:r>
            <a:endParaRPr lang="en-US" i="1" dirty="0"/>
          </a:p>
          <a:p>
            <a:pPr marL="342900" indent="-342900">
              <a:buFont typeface="Arial"/>
              <a:buChar char="•"/>
            </a:pPr>
            <a:r>
              <a:rPr lang="en-US" dirty="0"/>
              <a:t>Intuitively, concepts (separated by same path length) are more dissimilar higher up the tree; but this is not captured by path length similarity measure</a:t>
            </a:r>
          </a:p>
          <a:p>
            <a:pPr marL="342900" indent="-342900">
              <a:buFont typeface="Arial"/>
              <a:buChar char="•"/>
            </a:pPr>
            <a:r>
              <a:rPr lang="en-US" dirty="0"/>
              <a:t>Some parts of tree may be densely populated with rare terminology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191F0-6532-9B41-A311-568DB58E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18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585799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Lowest common </a:t>
            </a:r>
            <a:r>
              <a:rPr lang="en-US" dirty="0" err="1"/>
              <a:t>subsumer</a:t>
            </a:r>
            <a:r>
              <a:rPr lang="en-US" dirty="0"/>
              <a:t>: </a:t>
            </a:r>
            <a:r>
              <a:rPr lang="en-US" sz="3600" dirty="0"/>
              <a:t>similarity based on what two concepts share</a:t>
            </a:r>
          </a:p>
        </p:txBody>
      </p:sp>
      <p:pic>
        <p:nvPicPr>
          <p:cNvPr id="4" name="Content Placeholder 3" descr="Screenshot 2017-01-29 09.51.26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" r="930"/>
          <a:stretch>
            <a:fillRect/>
          </a:stretch>
        </p:blipFill>
        <p:spPr>
          <a:xfrm>
            <a:off x="795866" y="1885427"/>
            <a:ext cx="8169044" cy="4591572"/>
          </a:xfrm>
        </p:spPr>
      </p:pic>
      <p:sp>
        <p:nvSpPr>
          <p:cNvPr id="7" name="TextBox 6"/>
          <p:cNvSpPr txBox="1"/>
          <p:nvPr/>
        </p:nvSpPr>
        <p:spPr>
          <a:xfrm>
            <a:off x="8446394" y="1885427"/>
            <a:ext cx="3471286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6600"/>
                </a:solidFill>
              </a:rPr>
              <a:t>  What is the LCS of: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6600"/>
                </a:solidFill>
              </a:rPr>
              <a:t>tabby and tiger?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6600"/>
                </a:solidFill>
              </a:rPr>
              <a:t>poodle and carnivore?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6600"/>
                </a:solidFill>
              </a:rPr>
              <a:t>poodle and tiger?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E2135D-A47F-544B-870B-05661A70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19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685064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8BA1-1351-EF40-98AD-3259FF44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150DF-1E71-8740-A3FA-EEB7ECFED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3" y="1623429"/>
            <a:ext cx="11870267" cy="4625609"/>
          </a:xfrm>
        </p:spPr>
        <p:txBody>
          <a:bodyPr>
            <a:normAutofit/>
          </a:bodyPr>
          <a:lstStyle/>
          <a:p>
            <a:r>
              <a:rPr lang="en-US" sz="3000" dirty="0"/>
              <a:t>Intuition: concepts which have the LCS </a:t>
            </a:r>
            <a:r>
              <a:rPr lang="en-US" sz="3000" i="1" dirty="0"/>
              <a:t>carnivore</a:t>
            </a:r>
            <a:r>
              <a:rPr lang="en-US" sz="3000" dirty="0"/>
              <a:t> are more similar than concepts which have the LCS </a:t>
            </a:r>
            <a:r>
              <a:rPr lang="en-US" sz="3000" i="1" dirty="0"/>
              <a:t>vertebrate</a:t>
            </a:r>
          </a:p>
          <a:p>
            <a:r>
              <a:rPr lang="en-US" sz="3000" dirty="0"/>
              <a:t>We gain more </a:t>
            </a:r>
            <a:r>
              <a:rPr lang="en-US" sz="3000" b="1" dirty="0"/>
              <a:t>information</a:t>
            </a:r>
            <a:r>
              <a:rPr lang="en-US" sz="3000" dirty="0"/>
              <a:t> when we are told two objects are both </a:t>
            </a:r>
            <a:r>
              <a:rPr lang="en-US" sz="3000" i="1" dirty="0"/>
              <a:t>carnivores</a:t>
            </a:r>
            <a:r>
              <a:rPr lang="en-US" sz="3000" dirty="0"/>
              <a:t> than when we are told they are both </a:t>
            </a:r>
            <a:r>
              <a:rPr lang="en-US" sz="3000" i="1" dirty="0"/>
              <a:t>vertebrates</a:t>
            </a:r>
            <a:r>
              <a:rPr lang="en-US" sz="3000" dirty="0"/>
              <a:t>.</a:t>
            </a:r>
          </a:p>
          <a:p>
            <a:r>
              <a:rPr lang="en-US" sz="3000" dirty="0"/>
              <a:t>We capture this probabilistically via the information content (IC) of a concept</a:t>
            </a:r>
          </a:p>
          <a:p>
            <a:pPr lvl="1"/>
            <a:r>
              <a:rPr lang="en-US" sz="2200" dirty="0"/>
              <a:t>Annotate the hierarchy with the frequency of occurrence of each concept in some corpus</a:t>
            </a:r>
          </a:p>
          <a:p>
            <a:pPr lvl="1"/>
            <a:r>
              <a:rPr lang="en-US" sz="2200" dirty="0"/>
              <a:t>Remember that the occurrence of a concept implies the occurrence of all of its hypernyms (if something is a </a:t>
            </a:r>
            <a:r>
              <a:rPr lang="en-US" sz="2200" i="1" dirty="0"/>
              <a:t>dog</a:t>
            </a:r>
            <a:r>
              <a:rPr lang="en-US" sz="2200" dirty="0"/>
              <a:t>, it is also a </a:t>
            </a:r>
            <a:r>
              <a:rPr lang="en-US" sz="2200" i="1" dirty="0"/>
              <a:t>canine</a:t>
            </a:r>
            <a:r>
              <a:rPr lang="en-US" sz="2200" dirty="0"/>
              <a:t> and so 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E7E2B2-4023-5F49-8353-145125E7212E}"/>
                  </a:ext>
                </a:extLst>
              </p:cNvPr>
              <p:cNvSpPr txBox="1"/>
              <p:nvPr/>
            </p:nvSpPr>
            <p:spPr>
              <a:xfrm>
                <a:off x="2487386" y="5754365"/>
                <a:ext cx="3233057" cy="768993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sz="2400">
                              <a:latin typeface="Cambria Math" panose="02040503050406030204" pitchFamily="18" charset="0"/>
                            </a:rPr>
                            <m:t>freq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/>
                            <m:e>
                              <m:r>
                                <m:rPr>
                                  <m:nor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freq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E7E2B2-4023-5F49-8353-145125E72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386" y="5754365"/>
                <a:ext cx="3233057" cy="768993"/>
              </a:xfrm>
              <a:prstGeom prst="rect">
                <a:avLst/>
              </a:prstGeom>
              <a:blipFill>
                <a:blip r:embed="rId3"/>
                <a:stretch>
                  <a:fillRect t="-28571" b="-11746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F044C73-FA62-9143-B921-153771ACE7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3366" y="5762874"/>
          <a:ext cx="2095911" cy="38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2200" imgH="203200" progId="Equation.3">
                  <p:embed/>
                </p:oleObj>
              </mc:Choice>
              <mc:Fallback>
                <p:oleObj name="Equation" r:id="rId4" imgW="1092200" imgH="203200" progId="Equation.3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4F044C73-FA62-9143-B921-153771ACE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03366" y="5762874"/>
                        <a:ext cx="2095911" cy="389937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F60EA1-6B90-6247-BDA0-DE911547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20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00180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860C9-B3DB-3547-957F-1DBCFD04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B2EAA-8ECD-B64E-8083-04AA3927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41D6E4-5621-BB41-89BB-6EDFCD361524}"/>
              </a:ext>
            </a:extLst>
          </p:cNvPr>
          <p:cNvSpPr txBox="1"/>
          <p:nvPr/>
        </p:nvSpPr>
        <p:spPr>
          <a:xfrm>
            <a:off x="1143000" y="1937657"/>
            <a:ext cx="9535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How do we count the number of times a concept has occurred in a corpus?</a:t>
            </a:r>
          </a:p>
        </p:txBody>
      </p:sp>
    </p:spTree>
    <p:extLst>
      <p:ext uri="{BB962C8B-B14F-4D97-AF65-F5344CB8AC3E}">
        <p14:creationId xmlns:p14="http://schemas.microsoft.com/office/powerpoint/2010/main" val="5297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433" y="141095"/>
            <a:ext cx="8229600" cy="12510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WordNet</a:t>
            </a:r>
            <a:r>
              <a:rPr lang="en-US" dirty="0"/>
              <a:t> similarity measures based on information content (IC)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6122902"/>
              </p:ext>
            </p:extLst>
          </p:nvPr>
        </p:nvGraphicFramePr>
        <p:xfrm>
          <a:off x="1171711" y="2614804"/>
          <a:ext cx="3972787" cy="466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41500" imgH="215900" progId="Equation.3">
                  <p:embed/>
                </p:oleObj>
              </mc:Choice>
              <mc:Fallback>
                <p:oleObj name="Equation" r:id="rId2" imgW="1841500" imgH="215900" progId="Equation.3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71711" y="2614804"/>
                        <a:ext cx="3972787" cy="466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390320"/>
              </p:ext>
            </p:extLst>
          </p:nvPr>
        </p:nvGraphicFramePr>
        <p:xfrm>
          <a:off x="1171711" y="3740896"/>
          <a:ext cx="4006549" cy="900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700" imgH="431800" progId="Equation.3">
                  <p:embed/>
                </p:oleObj>
              </mc:Choice>
              <mc:Fallback>
                <p:oleObj name="Equation" r:id="rId4" imgW="1917700" imgH="431800" progId="Equation.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71711" y="3740896"/>
                        <a:ext cx="4006549" cy="900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82566" y="2355081"/>
            <a:ext cx="3624788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6600"/>
                </a:solidFill>
              </a:rPr>
              <a:t>Information content in what the concepts share (their lowest common </a:t>
            </a:r>
            <a:r>
              <a:rPr lang="en-US" sz="1600" dirty="0" err="1">
                <a:solidFill>
                  <a:srgbClr val="FF6600"/>
                </a:solidFill>
              </a:rPr>
              <a:t>subsumer</a:t>
            </a:r>
            <a:r>
              <a:rPr lang="en-US" sz="1600" dirty="0">
                <a:solidFill>
                  <a:srgbClr val="FF6600"/>
                </a:solidFill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2566" y="3793640"/>
            <a:ext cx="3624788" cy="5847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6600"/>
                </a:solidFill>
              </a:rPr>
              <a:t>Ratio of shared information content to total information content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1145" y="3141451"/>
            <a:ext cx="1848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See </a:t>
            </a:r>
            <a:r>
              <a:rPr lang="en-US" dirty="0" err="1">
                <a:solidFill>
                  <a:schemeClr val="accent2"/>
                </a:solidFill>
              </a:rPr>
              <a:t>Resnik</a:t>
            </a:r>
            <a:r>
              <a:rPr lang="en-US" dirty="0">
                <a:solidFill>
                  <a:schemeClr val="accent2"/>
                </a:solidFill>
              </a:rPr>
              <a:t>, 1995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1145" y="4801296"/>
            <a:ext cx="1517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60B5CC"/>
                </a:solidFill>
              </a:rPr>
              <a:t>See Lin 1998b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9148" y="1782342"/>
            <a:ext cx="3618207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6600"/>
                </a:solidFill>
              </a:rPr>
              <a:t>Information content in a concept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47603026-72AE-0946-8F95-55CB519F8F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335482"/>
              </p:ext>
            </p:extLst>
          </p:nvPr>
        </p:nvGraphicFramePr>
        <p:xfrm>
          <a:off x="1171711" y="1799900"/>
          <a:ext cx="2095911" cy="38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92200" imgH="203200" progId="Equation.3">
                  <p:embed/>
                </p:oleObj>
              </mc:Choice>
              <mc:Fallback>
                <p:oleObj name="Equation" r:id="rId6" imgW="1092200" imgH="203200" progId="Equation.3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47603026-72AE-0946-8F95-55CB519F8F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71711" y="1799900"/>
                        <a:ext cx="2095911" cy="389937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F8015-D347-6341-A7F2-479CAF74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22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5553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similarity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2200276" y="2092326"/>
          <a:ext cx="8094663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2200" imgH="368300" progId="Equation.3">
                  <p:embed/>
                </p:oleObj>
              </mc:Choice>
              <mc:Fallback>
                <p:oleObj name="Equation" r:id="rId2" imgW="2362200" imgH="368300" progId="Equation.3">
                  <p:embed/>
                  <p:pic>
                    <p:nvPicPr>
                      <p:cNvPr id="4" name="Content Placeholder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00276" y="2092326"/>
                        <a:ext cx="8094663" cy="1262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199581" y="3931403"/>
            <a:ext cx="8536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Can you write python code to implement this function?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83A6C-9793-7B47-8B0D-3BCFEDC4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23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706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evaluate semantic similarity measures?  </a:t>
            </a:r>
          </a:p>
          <a:p>
            <a:pPr marL="118872" indent="0">
              <a:buNone/>
            </a:pPr>
            <a:endParaRPr lang="en-US" dirty="0"/>
          </a:p>
          <a:p>
            <a:r>
              <a:rPr lang="en-US" dirty="0"/>
              <a:t>What is the right answer?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1B174-CAAF-FC4D-884A-C8214537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036922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Human synonymy </a:t>
            </a:r>
            <a:r>
              <a:rPr lang="en-US" dirty="0" err="1"/>
              <a:t>judgements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75192"/>
            <a:ext cx="8229600" cy="2106611"/>
          </a:xfrm>
        </p:spPr>
        <p:txBody>
          <a:bodyPr>
            <a:normAutofit/>
          </a:bodyPr>
          <a:lstStyle/>
          <a:p>
            <a:r>
              <a:rPr lang="en-US" dirty="0"/>
              <a:t>Rubenstein &amp; </a:t>
            </a:r>
            <a:r>
              <a:rPr lang="en-US" dirty="0" err="1"/>
              <a:t>Goodenough</a:t>
            </a:r>
            <a:r>
              <a:rPr lang="en-US" dirty="0"/>
              <a:t> 1965 (65 pairs)</a:t>
            </a:r>
          </a:p>
          <a:p>
            <a:r>
              <a:rPr lang="en-US" dirty="0"/>
              <a:t>Miller and Charles 1991 (30 pairs)</a:t>
            </a:r>
          </a:p>
          <a:p>
            <a:r>
              <a:rPr lang="en-US" dirty="0"/>
              <a:t>WordSim-353 2002 (353 pairs)</a:t>
            </a:r>
          </a:p>
          <a:p>
            <a:r>
              <a:rPr lang="en-US" dirty="0"/>
              <a:t>MEN dataset 2012 (3000 pairs)</a:t>
            </a:r>
          </a:p>
          <a:p>
            <a:endParaRPr lang="en-US" dirty="0"/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02219" y="4117804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M&amp;C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car-automobile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magician-wizard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journey-car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coast-forest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noon-string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6750D-D247-A746-A9D3-83562344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25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68175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8872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Pearson’s product-moment correlation coefficient</a:t>
            </a:r>
          </a:p>
          <a:p>
            <a:r>
              <a:rPr lang="en-US" dirty="0"/>
              <a:t>Spearman’s rank correlation coefficient</a:t>
            </a:r>
          </a:p>
        </p:txBody>
      </p:sp>
      <p:pic>
        <p:nvPicPr>
          <p:cNvPr id="4" name="Picture 3" descr="Positive-Negative-No-Correlation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700" y="2222500"/>
            <a:ext cx="6565900" cy="2413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4D82DD-2030-144C-9BE7-9283E2443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343" y="5486400"/>
            <a:ext cx="635000" cy="63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F60483-329B-D74B-901A-A2457ECD79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729" y="4635500"/>
            <a:ext cx="522514" cy="522514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90EBE36-B095-024F-A1BE-436F3B7BE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8F39E-9C37-485F-AC97-16BB4BDF9F49}" type="slidenum">
              <a:rPr kumimoji="0" lang="en-US" smtClean="0"/>
              <a:t>26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5447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Distributional Semantics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7551A-E40C-2A48-8593-6DE87D5FB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1, Part 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3B79A98-5A98-4343-A39F-565EE9F7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27</a:t>
            </a:fld>
            <a:endParaRPr lang="en-US"/>
          </a:p>
        </p:txBody>
      </p:sp>
      <p:pic>
        <p:nvPicPr>
          <p:cNvPr id="4" name="Picture 3" descr="nlp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585" y="5175764"/>
            <a:ext cx="2683921" cy="15380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27461" y="5404207"/>
            <a:ext cx="278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 Julie Weeds, Spring 2025</a:t>
            </a:r>
          </a:p>
        </p:txBody>
      </p:sp>
    </p:spTree>
    <p:extLst>
      <p:ext uri="{BB962C8B-B14F-4D97-AF65-F5344CB8AC3E}">
        <p14:creationId xmlns:p14="http://schemas.microsoft.com/office/powerpoint/2010/main" val="1098990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Distributional Semantics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18E4F99-C615-0C4C-8AD1-9C8E83066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56350-ECCC-B843-A0BF-3DB9B1F7FD70}" type="slidenum">
              <a:rPr lang="en-US" smtClean="0"/>
              <a:t>28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32569" y="2093976"/>
            <a:ext cx="9132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“You shall know a word by the company it keeps.”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06621" y="2914227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Firth (1957)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9355F1-2A32-DD4A-875C-F2BB24D50549}"/>
              </a:ext>
            </a:extLst>
          </p:cNvPr>
          <p:cNvSpPr txBox="1"/>
          <p:nvPr/>
        </p:nvSpPr>
        <p:spPr>
          <a:xfrm>
            <a:off x="1668927" y="3703320"/>
            <a:ext cx="91329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The Distributional Hypothesis: “Words that occur in the same contexts tend to have similar meanings.”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352B7-CBC9-8A4A-85AD-9499E16D33EB}"/>
              </a:ext>
            </a:extLst>
          </p:cNvPr>
          <p:cNvSpPr txBox="1"/>
          <p:nvPr/>
        </p:nvSpPr>
        <p:spPr>
          <a:xfrm>
            <a:off x="8906621" y="5088314"/>
            <a:ext cx="1574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Harris (1954)</a:t>
            </a:r>
          </a:p>
        </p:txBody>
      </p:sp>
    </p:spTree>
    <p:extLst>
      <p:ext uri="{BB962C8B-B14F-4D97-AF65-F5344CB8AC3E}">
        <p14:creationId xmlns:p14="http://schemas.microsoft.com/office/powerpoint/2010/main" val="30912601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95425-3191-944B-A807-2735AD87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</a:t>
            </a:r>
            <a:r>
              <a:rPr lang="en-US" i="1" dirty="0" err="1"/>
              <a:t>tezguino</a:t>
            </a:r>
            <a:r>
              <a:rPr lang="en-US" dirty="0"/>
              <a:t>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A242E-CED8-EE4B-8410-6C7FB8298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3740" y="2093976"/>
            <a:ext cx="8250615" cy="273935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A bottle of </a:t>
            </a:r>
            <a:r>
              <a:rPr lang="en-US" sz="3200" i="1" dirty="0" err="1"/>
              <a:t>tezguino</a:t>
            </a:r>
            <a:r>
              <a:rPr lang="en-US" sz="3200" dirty="0"/>
              <a:t> is on the table.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Everyone likes </a:t>
            </a:r>
            <a:r>
              <a:rPr lang="en-US" sz="3200" i="1" dirty="0" err="1"/>
              <a:t>tezguino</a:t>
            </a:r>
            <a:r>
              <a:rPr lang="en-US" sz="32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i="1" dirty="0" err="1"/>
              <a:t>Tezguino</a:t>
            </a:r>
            <a:r>
              <a:rPr lang="en-US" sz="3200" dirty="0"/>
              <a:t> makes you drunk.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We make </a:t>
            </a:r>
            <a:r>
              <a:rPr lang="en-US" sz="3200" i="1" dirty="0" err="1"/>
              <a:t>tezguino</a:t>
            </a:r>
            <a:r>
              <a:rPr lang="en-US" sz="3200" dirty="0"/>
              <a:t> out of corn.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D194A-7F7C-6C4D-8B11-D597E228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90A4-8B02-E24B-9DC0-51D7A084DDC4}" type="slidenum">
              <a:rPr lang="en-US" smtClean="0"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C9E3A7-2191-9E4C-B6CF-E06FA686DD7E}"/>
              </a:ext>
            </a:extLst>
          </p:cNvPr>
          <p:cNvSpPr txBox="1"/>
          <p:nvPr/>
        </p:nvSpPr>
        <p:spPr>
          <a:xfrm>
            <a:off x="8502316" y="4700337"/>
            <a:ext cx="1285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(Lin, 1998)</a:t>
            </a:r>
          </a:p>
        </p:txBody>
      </p:sp>
    </p:spTree>
    <p:extLst>
      <p:ext uri="{BB962C8B-B14F-4D97-AF65-F5344CB8AC3E}">
        <p14:creationId xmlns:p14="http://schemas.microsoft.com/office/powerpoint/2010/main" val="4070420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3F363-DF3A-FA44-82CF-F2D836D8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Bootstrapping the semantics of unknown words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CFF81-6EB9-B14C-9216-17C24410E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The </a:t>
            </a:r>
            <a:r>
              <a:rPr lang="en-US" sz="2800" b="1" dirty="0"/>
              <a:t>contexts</a:t>
            </a:r>
            <a:r>
              <a:rPr lang="en-US" sz="2800" dirty="0"/>
              <a:t> in which </a:t>
            </a:r>
            <a:r>
              <a:rPr lang="en-US" sz="2800" i="1" dirty="0" err="1">
                <a:solidFill>
                  <a:schemeClr val="accent6"/>
                </a:solidFill>
              </a:rPr>
              <a:t>tezguino</a:t>
            </a:r>
            <a:r>
              <a:rPr lang="en-US" sz="2800" dirty="0"/>
              <a:t> is used suggest that </a:t>
            </a:r>
            <a:r>
              <a:rPr lang="en-US" sz="2800" i="1" dirty="0" err="1">
                <a:solidFill>
                  <a:schemeClr val="accent6"/>
                </a:solidFill>
              </a:rPr>
              <a:t>tezguino</a:t>
            </a:r>
            <a:r>
              <a:rPr lang="en-US" sz="2800" i="1" dirty="0">
                <a:solidFill>
                  <a:schemeClr val="accent6"/>
                </a:solidFill>
              </a:rPr>
              <a:t> </a:t>
            </a:r>
            <a:r>
              <a:rPr lang="en-US" sz="2800" dirty="0"/>
              <a:t>may be:</a:t>
            </a:r>
          </a:p>
          <a:p>
            <a:pPr lvl="1">
              <a:lnSpc>
                <a:spcPct val="200000"/>
              </a:lnSpc>
            </a:pPr>
            <a:r>
              <a:rPr lang="en-US" i="1" dirty="0">
                <a:solidFill>
                  <a:schemeClr val="accent1"/>
                </a:solidFill>
              </a:rPr>
              <a:t>A kind of alcoholic beverage made from corn mash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Similarity plays an important role in word acquisition (</a:t>
            </a:r>
            <a:r>
              <a:rPr lang="en-US" sz="2800" dirty="0" err="1"/>
              <a:t>Gentner</a:t>
            </a:r>
            <a:r>
              <a:rPr lang="en-US" sz="2800" dirty="0"/>
              <a:t>, 1982)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Can we use corpora to infer similarity between words i.e., infer that </a:t>
            </a:r>
            <a:r>
              <a:rPr lang="en-US" sz="2800" i="1" dirty="0" err="1">
                <a:solidFill>
                  <a:schemeClr val="accent6"/>
                </a:solidFill>
              </a:rPr>
              <a:t>tezguino</a:t>
            </a:r>
            <a:r>
              <a:rPr lang="en-US" sz="2800" dirty="0"/>
              <a:t> is similar to </a:t>
            </a:r>
            <a:r>
              <a:rPr lang="en-US" sz="2800" i="1" dirty="0">
                <a:solidFill>
                  <a:schemeClr val="accent6"/>
                </a:solidFill>
              </a:rPr>
              <a:t>beer</a:t>
            </a:r>
            <a:r>
              <a:rPr lang="en-US" sz="2800" dirty="0">
                <a:solidFill>
                  <a:schemeClr val="accent6"/>
                </a:solidFill>
              </a:rPr>
              <a:t>, </a:t>
            </a:r>
            <a:r>
              <a:rPr lang="en-US" sz="2800" i="1" dirty="0">
                <a:solidFill>
                  <a:schemeClr val="accent6"/>
                </a:solidFill>
              </a:rPr>
              <a:t>wine</a:t>
            </a:r>
            <a:r>
              <a:rPr lang="en-US" sz="2800" dirty="0">
                <a:solidFill>
                  <a:schemeClr val="accent6"/>
                </a:solidFill>
              </a:rPr>
              <a:t>, </a:t>
            </a:r>
            <a:r>
              <a:rPr lang="en-US" sz="2800" i="1" dirty="0">
                <a:solidFill>
                  <a:schemeClr val="accent6"/>
                </a:solidFill>
              </a:rPr>
              <a:t>vodka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dirty="0" err="1"/>
              <a:t>etc</a:t>
            </a:r>
            <a:r>
              <a:rPr lang="en-US" sz="2800" dirty="0"/>
              <a:t>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3C039-D4EF-C648-A0A1-4B557E04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90A4-8B02-E24B-9DC0-51D7A084DDC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9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18E22-706F-A84E-9B1C-0E94ED3C6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distributional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C864A-4433-7F41-B887-B94C8138A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Automatic thesaurus construction</a:t>
            </a:r>
          </a:p>
          <a:p>
            <a:pPr lvl="1">
              <a:lnSpc>
                <a:spcPct val="200000"/>
              </a:lnSpc>
            </a:pPr>
            <a:r>
              <a:rPr lang="en-US" sz="2400" dirty="0"/>
              <a:t>For any language, genre, domain … where we have a corpus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Overcoming data sparseness in models which require labelled training data</a:t>
            </a:r>
          </a:p>
          <a:p>
            <a:pPr marL="457200" lvl="1" indent="0">
              <a:buNone/>
            </a:pPr>
            <a:endParaRPr lang="en-US" sz="2200" i="1" dirty="0"/>
          </a:p>
          <a:p>
            <a:pPr lvl="1"/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DFF1D1-3343-1C4C-B0ED-5C9D2F87B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90A4-8B02-E24B-9DC0-51D7A084DDC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157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9E0D-C4B9-1248-8C22-504498829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Distributional semantics in document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AAF1C-38FB-1D42-9529-6DB9EFEED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Imagine we have built a Naïve Bayes document relevancy classifier using a relatively small training sample (e.g., 500 documents)</a:t>
            </a:r>
          </a:p>
          <a:p>
            <a:pPr lvl="1"/>
            <a:r>
              <a:rPr lang="en-US" dirty="0"/>
              <a:t>A test document contains the word </a:t>
            </a:r>
            <a:r>
              <a:rPr lang="en-US" i="1" dirty="0" err="1">
                <a:solidFill>
                  <a:schemeClr val="accent6"/>
                </a:solidFill>
              </a:rPr>
              <a:t>tezguino</a:t>
            </a:r>
            <a:r>
              <a:rPr lang="en-US" dirty="0"/>
              <a:t> which has not been seen in the training sample </a:t>
            </a:r>
          </a:p>
          <a:p>
            <a:pPr lvl="2"/>
            <a:r>
              <a:rPr lang="en-US" dirty="0"/>
              <a:t>so it cannot contribute to the relevancy classification</a:t>
            </a:r>
          </a:p>
          <a:p>
            <a:pPr lvl="1"/>
            <a:r>
              <a:rPr lang="en-US" dirty="0"/>
              <a:t>But by applying distributional semantics to a very large unlabeled corpus (e.g., the web), we know that </a:t>
            </a:r>
            <a:r>
              <a:rPr lang="en-US" i="1" dirty="0" err="1">
                <a:solidFill>
                  <a:schemeClr val="accent6"/>
                </a:solidFill>
              </a:rPr>
              <a:t>tezguino</a:t>
            </a:r>
            <a:r>
              <a:rPr lang="en-US" dirty="0"/>
              <a:t> is very similar to </a:t>
            </a:r>
            <a:r>
              <a:rPr lang="en-US" i="1" dirty="0">
                <a:solidFill>
                  <a:schemeClr val="accent6"/>
                </a:solidFill>
              </a:rPr>
              <a:t>beer</a:t>
            </a:r>
          </a:p>
          <a:p>
            <a:pPr lvl="2"/>
            <a:r>
              <a:rPr lang="en-US" i="1" dirty="0">
                <a:solidFill>
                  <a:schemeClr val="accent6"/>
                </a:solidFill>
              </a:rPr>
              <a:t>beer</a:t>
            </a:r>
            <a:r>
              <a:rPr lang="en-US" i="1" dirty="0"/>
              <a:t> </a:t>
            </a:r>
            <a:r>
              <a:rPr lang="en-US" dirty="0"/>
              <a:t>has been seen in the training sample</a:t>
            </a:r>
          </a:p>
          <a:p>
            <a:pPr lvl="2"/>
            <a:r>
              <a:rPr lang="en-US" dirty="0"/>
              <a:t>Assume </a:t>
            </a:r>
            <a:r>
              <a:rPr lang="en-US" b="1" dirty="0"/>
              <a:t>P(</a:t>
            </a:r>
            <a:r>
              <a:rPr lang="en-US" b="1" i="1" dirty="0" err="1">
                <a:solidFill>
                  <a:schemeClr val="accent6"/>
                </a:solidFill>
              </a:rPr>
              <a:t>tezguino</a:t>
            </a:r>
            <a:r>
              <a:rPr lang="en-US" b="1" dirty="0" err="1"/>
              <a:t>|class</a:t>
            </a:r>
            <a:r>
              <a:rPr lang="en-US" b="1" dirty="0"/>
              <a:t>) ≈ P(</a:t>
            </a:r>
            <a:r>
              <a:rPr lang="en-US" b="1" i="1" dirty="0" err="1">
                <a:solidFill>
                  <a:schemeClr val="accent6"/>
                </a:solidFill>
              </a:rPr>
              <a:t>beer</a:t>
            </a:r>
            <a:r>
              <a:rPr lang="en-US" b="1" dirty="0" err="1"/>
              <a:t>|class</a:t>
            </a:r>
            <a:r>
              <a:rPr lang="en-US" sz="2800" b="1" dirty="0"/>
              <a:t>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35006-6C99-5A4E-99CB-11C2BFA50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90A4-8B02-E24B-9DC0-51D7A084DDC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6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0D07-08C8-7D42-AC93-1F99EC747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Facets of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1FE22-496C-7D41-9EE5-0A7A7458B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7826" y="1657204"/>
            <a:ext cx="6445046" cy="2401552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r>
              <a:rPr lang="en-US" dirty="0"/>
              <a:t>Tigers </a:t>
            </a:r>
            <a:r>
              <a:rPr lang="en-US" b="1" dirty="0"/>
              <a:t>eat</a:t>
            </a:r>
            <a:r>
              <a:rPr lang="en-US" dirty="0"/>
              <a:t> meat.</a:t>
            </a:r>
          </a:p>
          <a:p>
            <a:r>
              <a:rPr lang="en-US" dirty="0"/>
              <a:t>The monkey </a:t>
            </a:r>
            <a:r>
              <a:rPr lang="en-US" b="1" dirty="0"/>
              <a:t>ate</a:t>
            </a:r>
            <a:r>
              <a:rPr lang="en-US" dirty="0"/>
              <a:t> a banana.</a:t>
            </a:r>
          </a:p>
          <a:p>
            <a:r>
              <a:rPr lang="en-US" dirty="0"/>
              <a:t>X17 likes to </a:t>
            </a:r>
            <a:r>
              <a:rPr lang="en-US" b="1" dirty="0"/>
              <a:t>eat</a:t>
            </a:r>
            <a:r>
              <a:rPr lang="en-US" dirty="0"/>
              <a:t> falafel.</a:t>
            </a:r>
          </a:p>
          <a:p>
            <a:r>
              <a:rPr lang="en-US" dirty="0"/>
              <a:t>My son does not </a:t>
            </a:r>
            <a:r>
              <a:rPr lang="en-US" b="1" dirty="0"/>
              <a:t>eat</a:t>
            </a:r>
            <a:r>
              <a:rPr lang="en-US" dirty="0"/>
              <a:t> </a:t>
            </a:r>
            <a:r>
              <a:rPr lang="en-US" dirty="0" err="1"/>
              <a:t>courgettes</a:t>
            </a:r>
            <a:r>
              <a:rPr lang="en-US" dirty="0"/>
              <a:t>.</a:t>
            </a:r>
          </a:p>
          <a:p>
            <a:r>
              <a:rPr lang="en-US" dirty="0"/>
              <a:t>The machine </a:t>
            </a:r>
            <a:r>
              <a:rPr lang="en-US" b="1" dirty="0"/>
              <a:t>ate</a:t>
            </a:r>
            <a:r>
              <a:rPr lang="en-US" dirty="0"/>
              <a:t> my credit card.</a:t>
            </a:r>
          </a:p>
          <a:p>
            <a:endParaRPr lang="en-US" dirty="0"/>
          </a:p>
          <a:p>
            <a:pPr marL="118872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3B612-950A-C547-85B2-34D01811930A}"/>
              </a:ext>
            </a:extLst>
          </p:cNvPr>
          <p:cNvSpPr txBox="1"/>
          <p:nvPr/>
        </p:nvSpPr>
        <p:spPr>
          <a:xfrm>
            <a:off x="2302714" y="4961358"/>
            <a:ext cx="26134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these examples we can learn: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7A800-1B6A-E14C-BB83-C193BD7F0D7B}"/>
              </a:ext>
            </a:extLst>
          </p:cNvPr>
          <p:cNvSpPr txBox="1"/>
          <p:nvPr/>
        </p:nvSpPr>
        <p:spPr>
          <a:xfrm>
            <a:off x="4916129" y="4407360"/>
            <a:ext cx="53566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can be </a:t>
            </a:r>
            <a:r>
              <a:rPr lang="en-US" b="1" dirty="0"/>
              <a:t>eaten</a:t>
            </a:r>
            <a:r>
              <a:rPr lang="en-US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</a:t>
            </a:r>
            <a:r>
              <a:rPr lang="en-US" b="1" dirty="0"/>
              <a:t>eats</a:t>
            </a:r>
            <a:r>
              <a:rPr lang="en-US" dirty="0"/>
              <a:t> things?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Meat, banana, falafel, </a:t>
            </a:r>
            <a:r>
              <a:rPr lang="en-US" i="1" dirty="0" err="1"/>
              <a:t>courgettes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/>
              <a:t>credit card </a:t>
            </a:r>
            <a:r>
              <a:rPr lang="en-US" dirty="0"/>
              <a:t>all  share 1 facet of meaning – that they can be eaten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Tigers, monkey, X17, son </a:t>
            </a:r>
            <a:r>
              <a:rPr lang="en-US" dirty="0"/>
              <a:t>and</a:t>
            </a:r>
            <a:r>
              <a:rPr lang="en-US" i="1" dirty="0"/>
              <a:t> machine </a:t>
            </a:r>
            <a:r>
              <a:rPr lang="en-US" dirty="0"/>
              <a:t>all share 1 facet of meaning – that they eat things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4F491-D3D6-4B43-9494-5133B2EB3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831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57C6B-7AB2-B347-A0C8-94C789BAA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to capture facets of meaning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A1890-446C-6A4A-9490-5EF32CC53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Dependency relationships between words:</a:t>
            </a:r>
          </a:p>
          <a:p>
            <a:pPr lvl="1"/>
            <a:r>
              <a:rPr lang="en-US" dirty="0"/>
              <a:t>“is subject of </a:t>
            </a:r>
            <a:r>
              <a:rPr lang="en-US" i="1" dirty="0"/>
              <a:t>eat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“is object of </a:t>
            </a:r>
            <a:r>
              <a:rPr lang="en-US" i="1" dirty="0"/>
              <a:t>eat</a:t>
            </a:r>
            <a:r>
              <a:rPr lang="en-US" dirty="0"/>
              <a:t>”</a:t>
            </a:r>
          </a:p>
          <a:p>
            <a:r>
              <a:rPr lang="en-US" dirty="0"/>
              <a:t>Proximity between words</a:t>
            </a:r>
          </a:p>
          <a:p>
            <a:pPr lvl="1"/>
            <a:r>
              <a:rPr lang="en-US" dirty="0"/>
              <a:t>“occurs within a </a:t>
            </a:r>
            <a:r>
              <a:rPr lang="en-US" b="1" dirty="0"/>
              <a:t>window of +- m words </a:t>
            </a:r>
            <a:r>
              <a:rPr lang="en-US" dirty="0"/>
              <a:t>either side of the word </a:t>
            </a:r>
            <a:r>
              <a:rPr lang="en-US" i="1" dirty="0"/>
              <a:t>eat</a:t>
            </a:r>
            <a:r>
              <a:rPr lang="en-US" dirty="0"/>
              <a:t>”</a:t>
            </a:r>
          </a:p>
          <a:p>
            <a:r>
              <a:rPr lang="en-US" dirty="0"/>
              <a:t>Feature values can be Boolean but are usually real-valued </a:t>
            </a:r>
          </a:p>
          <a:p>
            <a:pPr lvl="1"/>
            <a:r>
              <a:rPr lang="en-US" dirty="0"/>
              <a:t>strength of association</a:t>
            </a:r>
          </a:p>
          <a:p>
            <a:r>
              <a:rPr lang="en-US" dirty="0"/>
              <a:t>Dependency parsing is difficult</a:t>
            </a:r>
          </a:p>
          <a:p>
            <a:r>
              <a:rPr lang="en-US" dirty="0"/>
              <a:t>Windows are easy to construct</a:t>
            </a:r>
          </a:p>
          <a:p>
            <a:r>
              <a:rPr lang="en-US" dirty="0"/>
              <a:t>Window size can be varied to capture different types of semantic relationships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7A461F-12ED-F24D-9EE3-23775009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90A4-8B02-E24B-9DC0-51D7A084DDC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0550-365D-524B-A19F-55826582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windows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A2E9ED0-BF3C-EC45-B37E-B64B16F71E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88136" y="2950634"/>
          <a:ext cx="6588918" cy="2259753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098153">
                  <a:extLst>
                    <a:ext uri="{9D8B030D-6E8A-4147-A177-3AD203B41FA5}">
                      <a16:colId xmlns:a16="http://schemas.microsoft.com/office/drawing/2014/main" val="1706088355"/>
                    </a:ext>
                  </a:extLst>
                </a:gridCol>
                <a:gridCol w="1098153">
                  <a:extLst>
                    <a:ext uri="{9D8B030D-6E8A-4147-A177-3AD203B41FA5}">
                      <a16:colId xmlns:a16="http://schemas.microsoft.com/office/drawing/2014/main" val="3056214118"/>
                    </a:ext>
                  </a:extLst>
                </a:gridCol>
                <a:gridCol w="1098153">
                  <a:extLst>
                    <a:ext uri="{9D8B030D-6E8A-4147-A177-3AD203B41FA5}">
                      <a16:colId xmlns:a16="http://schemas.microsoft.com/office/drawing/2014/main" val="395356304"/>
                    </a:ext>
                  </a:extLst>
                </a:gridCol>
                <a:gridCol w="1098153">
                  <a:extLst>
                    <a:ext uri="{9D8B030D-6E8A-4147-A177-3AD203B41FA5}">
                      <a16:colId xmlns:a16="http://schemas.microsoft.com/office/drawing/2014/main" val="29043189"/>
                    </a:ext>
                  </a:extLst>
                </a:gridCol>
                <a:gridCol w="1098153">
                  <a:extLst>
                    <a:ext uri="{9D8B030D-6E8A-4147-A177-3AD203B41FA5}">
                      <a16:colId xmlns:a16="http://schemas.microsoft.com/office/drawing/2014/main" val="4199143789"/>
                    </a:ext>
                  </a:extLst>
                </a:gridCol>
                <a:gridCol w="1098153">
                  <a:extLst>
                    <a:ext uri="{9D8B030D-6E8A-4147-A177-3AD203B41FA5}">
                      <a16:colId xmlns:a16="http://schemas.microsoft.com/office/drawing/2014/main" val="3832977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926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524787"/>
                  </a:ext>
                </a:extLst>
              </a:tr>
              <a:tr h="405553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88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589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513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14793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186F4-8B35-E340-9F65-337E86971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90A4-8B02-E24B-9DC0-51D7A084DDC4}" type="slidenum">
              <a:rPr lang="en-US" smtClean="0"/>
              <a:t>35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41F6B-B0C2-4848-9F3B-7D41895F8282}"/>
              </a:ext>
            </a:extLst>
          </p:cNvPr>
          <p:cNvSpPr txBox="1"/>
          <p:nvPr/>
        </p:nvSpPr>
        <p:spPr>
          <a:xfrm>
            <a:off x="899250" y="1953422"/>
            <a:ext cx="4181529" cy="3693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window size around target word = +-1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B31A78D-334B-D84D-9779-DB942355726B}"/>
              </a:ext>
            </a:extLst>
          </p:cNvPr>
          <p:cNvGrpSpPr/>
          <p:nvPr/>
        </p:nvGrpSpPr>
        <p:grpSpPr>
          <a:xfrm>
            <a:off x="1069938" y="3281650"/>
            <a:ext cx="3294459" cy="474133"/>
            <a:chOff x="1088136" y="2336800"/>
            <a:chExt cx="3294459" cy="474133"/>
          </a:xfrm>
        </p:grpSpPr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B6A5C2D2-786E-FA47-865B-D9A22544E96D}"/>
                </a:ext>
              </a:extLst>
            </p:cNvPr>
            <p:cNvSpPr/>
            <p:nvPr/>
          </p:nvSpPr>
          <p:spPr>
            <a:xfrm>
              <a:off x="1088136" y="2336800"/>
              <a:ext cx="3294459" cy="47413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CE0F401-733F-2F4A-9E7E-125D9E97F506}"/>
                </a:ext>
              </a:extLst>
            </p:cNvPr>
            <p:cNvSpPr/>
            <p:nvPr/>
          </p:nvSpPr>
          <p:spPr>
            <a:xfrm>
              <a:off x="2184400" y="2336800"/>
              <a:ext cx="1083733" cy="474133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31C6E9B-CDFF-4F42-9803-15562F8240E4}"/>
              </a:ext>
            </a:extLst>
          </p:cNvPr>
          <p:cNvGrpSpPr/>
          <p:nvPr/>
        </p:nvGrpSpPr>
        <p:grpSpPr>
          <a:xfrm>
            <a:off x="2184400" y="3704244"/>
            <a:ext cx="3294459" cy="474133"/>
            <a:chOff x="1088136" y="2336800"/>
            <a:chExt cx="3294459" cy="474133"/>
          </a:xfrm>
        </p:grpSpPr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B49A54D6-24E0-D64D-BC28-3826501D2284}"/>
                </a:ext>
              </a:extLst>
            </p:cNvPr>
            <p:cNvSpPr/>
            <p:nvPr/>
          </p:nvSpPr>
          <p:spPr>
            <a:xfrm>
              <a:off x="1088136" y="2336800"/>
              <a:ext cx="3294459" cy="47413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4EE6FD6-DAE2-BB4D-A5F3-99B249659566}"/>
                </a:ext>
              </a:extLst>
            </p:cNvPr>
            <p:cNvSpPr/>
            <p:nvPr/>
          </p:nvSpPr>
          <p:spPr>
            <a:xfrm>
              <a:off x="2184400" y="2336800"/>
              <a:ext cx="1083733" cy="474133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480CCF5-D691-934E-BE46-AEC972581958}"/>
              </a:ext>
            </a:extLst>
          </p:cNvPr>
          <p:cNvGrpSpPr/>
          <p:nvPr/>
        </p:nvGrpSpPr>
        <p:grpSpPr>
          <a:xfrm>
            <a:off x="-20060" y="2884225"/>
            <a:ext cx="3294459" cy="474133"/>
            <a:chOff x="1088136" y="2336800"/>
            <a:chExt cx="3294459" cy="474133"/>
          </a:xfrm>
        </p:grpSpPr>
        <p:sp>
          <p:nvSpPr>
            <p:cNvPr id="21" name="Frame 20">
              <a:extLst>
                <a:ext uri="{FF2B5EF4-FFF2-40B4-BE49-F238E27FC236}">
                  <a16:creationId xmlns:a16="http://schemas.microsoft.com/office/drawing/2014/main" id="{191544F3-6865-9343-8461-87805C4236E1}"/>
                </a:ext>
              </a:extLst>
            </p:cNvPr>
            <p:cNvSpPr/>
            <p:nvPr/>
          </p:nvSpPr>
          <p:spPr>
            <a:xfrm>
              <a:off x="1088136" y="2336800"/>
              <a:ext cx="3294459" cy="47413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84797AC-28C1-0D4F-923A-DD09DB9C9550}"/>
                </a:ext>
              </a:extLst>
            </p:cNvPr>
            <p:cNvSpPr/>
            <p:nvPr/>
          </p:nvSpPr>
          <p:spPr>
            <a:xfrm>
              <a:off x="2184400" y="2336800"/>
              <a:ext cx="1083733" cy="474133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C74D8ED-E8A6-2342-8997-E1C252B0B974}"/>
              </a:ext>
            </a:extLst>
          </p:cNvPr>
          <p:cNvSpPr txBox="1"/>
          <p:nvPr/>
        </p:nvSpPr>
        <p:spPr>
          <a:xfrm>
            <a:off x="8534400" y="2950634"/>
            <a:ext cx="1920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the: {machine: 1}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1FCAE6-D768-D040-B543-6024ECBD5918}"/>
              </a:ext>
            </a:extLst>
          </p:cNvPr>
          <p:cNvSpPr txBox="1"/>
          <p:nvPr/>
        </p:nvSpPr>
        <p:spPr>
          <a:xfrm>
            <a:off x="8545618" y="3316549"/>
            <a:ext cx="2582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machine: {the: 1, ate: 1}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4BDEA8-CCD1-B046-96FB-7BAC595F6A37}"/>
              </a:ext>
            </a:extLst>
          </p:cNvPr>
          <p:cNvSpPr txBox="1"/>
          <p:nvPr/>
        </p:nvSpPr>
        <p:spPr>
          <a:xfrm>
            <a:off x="8534400" y="3773755"/>
            <a:ext cx="257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ate: {machine: 1, my: 1}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386A86-9B52-704C-A2AD-10BB4AA7C099}"/>
              </a:ext>
            </a:extLst>
          </p:cNvPr>
          <p:cNvCxnSpPr>
            <a:stCxn id="7" idx="2"/>
          </p:cNvCxnSpPr>
          <p:nvPr/>
        </p:nvCxnSpPr>
        <p:spPr>
          <a:xfrm flipH="1">
            <a:off x="802113" y="2322754"/>
            <a:ext cx="2187902" cy="52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5C293D9-858E-D34A-88D5-4B5281D6FBB9}"/>
              </a:ext>
            </a:extLst>
          </p:cNvPr>
          <p:cNvCxnSpPr>
            <a:stCxn id="7" idx="2"/>
          </p:cNvCxnSpPr>
          <p:nvPr/>
        </p:nvCxnSpPr>
        <p:spPr>
          <a:xfrm flipH="1">
            <a:off x="2582783" y="2322754"/>
            <a:ext cx="407232" cy="530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6E7A030-4F4B-6C41-9924-0B0A979D06E8}"/>
              </a:ext>
            </a:extLst>
          </p:cNvPr>
          <p:cNvGrpSpPr/>
          <p:nvPr/>
        </p:nvGrpSpPr>
        <p:grpSpPr>
          <a:xfrm>
            <a:off x="7998128" y="2087960"/>
            <a:ext cx="3719816" cy="3845446"/>
            <a:chOff x="7998128" y="2087960"/>
            <a:chExt cx="3719816" cy="384544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EDCBC98-D83B-834A-969B-12C35888A08D}"/>
                </a:ext>
              </a:extLst>
            </p:cNvPr>
            <p:cNvSpPr txBox="1"/>
            <p:nvPr/>
          </p:nvSpPr>
          <p:spPr>
            <a:xfrm>
              <a:off x="8545618" y="5287075"/>
              <a:ext cx="3172326" cy="64633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What features will be added for </a:t>
              </a:r>
              <a:r>
                <a:rPr lang="en-US" i="1" dirty="0"/>
                <a:t>my</a:t>
              </a:r>
              <a:r>
                <a:rPr lang="en-US" dirty="0"/>
                <a:t>, </a:t>
              </a:r>
              <a:r>
                <a:rPr lang="en-US" i="1" dirty="0"/>
                <a:t>credit</a:t>
              </a:r>
              <a:r>
                <a:rPr lang="en-US" dirty="0"/>
                <a:t> and </a:t>
              </a:r>
              <a:r>
                <a:rPr lang="en-US" i="1" dirty="0"/>
                <a:t>card</a:t>
              </a:r>
              <a:r>
                <a:rPr lang="en-US" dirty="0"/>
                <a:t>?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BFCE818-1A80-794C-9DF3-6022236492D3}"/>
                </a:ext>
              </a:extLst>
            </p:cNvPr>
            <p:cNvSpPr txBox="1"/>
            <p:nvPr/>
          </p:nvSpPr>
          <p:spPr>
            <a:xfrm>
              <a:off x="8062091" y="2087960"/>
              <a:ext cx="3517822" cy="36933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Features added per target word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8D6EE32F-3EE5-7E4A-B829-71E9B6D3BE99}"/>
                </a:ext>
              </a:extLst>
            </p:cNvPr>
            <p:cNvCxnSpPr>
              <a:stCxn id="14" idx="2"/>
            </p:cNvCxnSpPr>
            <p:nvPr/>
          </p:nvCxnSpPr>
          <p:spPr>
            <a:xfrm>
              <a:off x="9821002" y="2457292"/>
              <a:ext cx="0" cy="3902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ight Arrow 31">
              <a:extLst>
                <a:ext uri="{FF2B5EF4-FFF2-40B4-BE49-F238E27FC236}">
                  <a16:creationId xmlns:a16="http://schemas.microsoft.com/office/drawing/2014/main" id="{621B3690-718E-A34B-88B8-C87C7E1555C1}"/>
                </a:ext>
              </a:extLst>
            </p:cNvPr>
            <p:cNvSpPr/>
            <p:nvPr/>
          </p:nvSpPr>
          <p:spPr>
            <a:xfrm>
              <a:off x="8019225" y="3369473"/>
              <a:ext cx="472309" cy="331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ight Arrow 32">
              <a:extLst>
                <a:ext uri="{FF2B5EF4-FFF2-40B4-BE49-F238E27FC236}">
                  <a16:creationId xmlns:a16="http://schemas.microsoft.com/office/drawing/2014/main" id="{B146857F-F6C9-D648-A2E1-5C3BB6FADCD6}"/>
                </a:ext>
              </a:extLst>
            </p:cNvPr>
            <p:cNvSpPr/>
            <p:nvPr/>
          </p:nvSpPr>
          <p:spPr>
            <a:xfrm>
              <a:off x="8019226" y="2968592"/>
              <a:ext cx="472309" cy="331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ight Arrow 33">
              <a:extLst>
                <a:ext uri="{FF2B5EF4-FFF2-40B4-BE49-F238E27FC236}">
                  <a16:creationId xmlns:a16="http://schemas.microsoft.com/office/drawing/2014/main" id="{0FA72FE8-9EAB-BA4E-9474-98B3B2A9350F}"/>
                </a:ext>
              </a:extLst>
            </p:cNvPr>
            <p:cNvSpPr/>
            <p:nvPr/>
          </p:nvSpPr>
          <p:spPr>
            <a:xfrm>
              <a:off x="7998130" y="3770354"/>
              <a:ext cx="472309" cy="331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ight Arrow 34">
              <a:extLst>
                <a:ext uri="{FF2B5EF4-FFF2-40B4-BE49-F238E27FC236}">
                  <a16:creationId xmlns:a16="http://schemas.microsoft.com/office/drawing/2014/main" id="{5492996E-6474-5E4A-B99A-E2FB889720B0}"/>
                </a:ext>
              </a:extLst>
            </p:cNvPr>
            <p:cNvSpPr/>
            <p:nvPr/>
          </p:nvSpPr>
          <p:spPr>
            <a:xfrm>
              <a:off x="7998129" y="4098280"/>
              <a:ext cx="472309" cy="331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ight Arrow 35">
              <a:extLst>
                <a:ext uri="{FF2B5EF4-FFF2-40B4-BE49-F238E27FC236}">
                  <a16:creationId xmlns:a16="http://schemas.microsoft.com/office/drawing/2014/main" id="{2069DCB1-6099-9C48-8A84-0775F59B52D9}"/>
                </a:ext>
              </a:extLst>
            </p:cNvPr>
            <p:cNvSpPr/>
            <p:nvPr/>
          </p:nvSpPr>
          <p:spPr>
            <a:xfrm>
              <a:off x="7998128" y="4475791"/>
              <a:ext cx="472309" cy="331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6EE1F226-C244-3243-B3B9-C396C56B299E}"/>
                </a:ext>
              </a:extLst>
            </p:cNvPr>
            <p:cNvSpPr/>
            <p:nvPr/>
          </p:nvSpPr>
          <p:spPr>
            <a:xfrm>
              <a:off x="7998346" y="4853302"/>
              <a:ext cx="472309" cy="331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6141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0550-365D-524B-A19F-55826582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windows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A2E9ED0-BF3C-EC45-B37E-B64B16F71E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88136" y="2950634"/>
          <a:ext cx="6588918" cy="2259753"/>
        </p:xfrm>
        <a:graphic>
          <a:graphicData uri="http://schemas.openxmlformats.org/drawingml/2006/table">
            <a:tbl>
              <a:tblPr bandRow="1">
                <a:tableStyleId>{F5AB1C69-6EDB-4FF4-983F-18BD219EF322}</a:tableStyleId>
              </a:tblPr>
              <a:tblGrid>
                <a:gridCol w="1098153">
                  <a:extLst>
                    <a:ext uri="{9D8B030D-6E8A-4147-A177-3AD203B41FA5}">
                      <a16:colId xmlns:a16="http://schemas.microsoft.com/office/drawing/2014/main" val="1706088355"/>
                    </a:ext>
                  </a:extLst>
                </a:gridCol>
                <a:gridCol w="1098153">
                  <a:extLst>
                    <a:ext uri="{9D8B030D-6E8A-4147-A177-3AD203B41FA5}">
                      <a16:colId xmlns:a16="http://schemas.microsoft.com/office/drawing/2014/main" val="3056214118"/>
                    </a:ext>
                  </a:extLst>
                </a:gridCol>
                <a:gridCol w="1098153">
                  <a:extLst>
                    <a:ext uri="{9D8B030D-6E8A-4147-A177-3AD203B41FA5}">
                      <a16:colId xmlns:a16="http://schemas.microsoft.com/office/drawing/2014/main" val="395356304"/>
                    </a:ext>
                  </a:extLst>
                </a:gridCol>
                <a:gridCol w="1098153">
                  <a:extLst>
                    <a:ext uri="{9D8B030D-6E8A-4147-A177-3AD203B41FA5}">
                      <a16:colId xmlns:a16="http://schemas.microsoft.com/office/drawing/2014/main" val="29043189"/>
                    </a:ext>
                  </a:extLst>
                </a:gridCol>
                <a:gridCol w="1098153">
                  <a:extLst>
                    <a:ext uri="{9D8B030D-6E8A-4147-A177-3AD203B41FA5}">
                      <a16:colId xmlns:a16="http://schemas.microsoft.com/office/drawing/2014/main" val="4199143789"/>
                    </a:ext>
                  </a:extLst>
                </a:gridCol>
                <a:gridCol w="1098153">
                  <a:extLst>
                    <a:ext uri="{9D8B030D-6E8A-4147-A177-3AD203B41FA5}">
                      <a16:colId xmlns:a16="http://schemas.microsoft.com/office/drawing/2014/main" val="3832977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926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524787"/>
                  </a:ext>
                </a:extLst>
              </a:tr>
              <a:tr h="405553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88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589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513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714793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186F4-8B35-E340-9F65-337E86971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90A4-8B02-E24B-9DC0-51D7A084DDC4}" type="slidenum">
              <a:rPr lang="en-US" smtClean="0"/>
              <a:t>36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41F6B-B0C2-4848-9F3B-7D41895F8282}"/>
              </a:ext>
            </a:extLst>
          </p:cNvPr>
          <p:cNvSpPr txBox="1"/>
          <p:nvPr/>
        </p:nvSpPr>
        <p:spPr>
          <a:xfrm>
            <a:off x="1069848" y="2161671"/>
            <a:ext cx="4181529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window size around target word = +-2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31C6E9B-CDFF-4F42-9803-15562F8240E4}"/>
              </a:ext>
            </a:extLst>
          </p:cNvPr>
          <p:cNvGrpSpPr/>
          <p:nvPr/>
        </p:nvGrpSpPr>
        <p:grpSpPr>
          <a:xfrm>
            <a:off x="0" y="3321877"/>
            <a:ext cx="5520267" cy="455551"/>
            <a:chOff x="1088136" y="2336800"/>
            <a:chExt cx="3294459" cy="497783"/>
          </a:xfrm>
        </p:grpSpPr>
        <p:sp>
          <p:nvSpPr>
            <p:cNvPr id="18" name="Frame 17">
              <a:extLst>
                <a:ext uri="{FF2B5EF4-FFF2-40B4-BE49-F238E27FC236}">
                  <a16:creationId xmlns:a16="http://schemas.microsoft.com/office/drawing/2014/main" id="{B49A54D6-24E0-D64D-BC28-3826501D2284}"/>
                </a:ext>
              </a:extLst>
            </p:cNvPr>
            <p:cNvSpPr/>
            <p:nvPr/>
          </p:nvSpPr>
          <p:spPr>
            <a:xfrm>
              <a:off x="1088136" y="2336800"/>
              <a:ext cx="3294459" cy="47413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4EE6FD6-DAE2-BB4D-A5F3-99B249659566}"/>
                </a:ext>
              </a:extLst>
            </p:cNvPr>
            <p:cNvSpPr/>
            <p:nvPr/>
          </p:nvSpPr>
          <p:spPr>
            <a:xfrm>
              <a:off x="2406295" y="2360453"/>
              <a:ext cx="641423" cy="474130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C74D8ED-E8A6-2342-8997-E1C252B0B974}"/>
              </a:ext>
            </a:extLst>
          </p:cNvPr>
          <p:cNvSpPr txBox="1"/>
          <p:nvPr/>
        </p:nvSpPr>
        <p:spPr>
          <a:xfrm>
            <a:off x="8534400" y="2950634"/>
            <a:ext cx="2582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the: {machine: 1, ate: 1}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1FCAE6-D768-D040-B543-6024ECBD5918}"/>
              </a:ext>
            </a:extLst>
          </p:cNvPr>
          <p:cNvSpPr txBox="1"/>
          <p:nvPr/>
        </p:nvSpPr>
        <p:spPr>
          <a:xfrm>
            <a:off x="8545618" y="3316549"/>
            <a:ext cx="324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machine: {the: 1, ate: 1, my: 1}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4BDEA8-CCD1-B046-96FB-7BAC595F6A37}"/>
              </a:ext>
            </a:extLst>
          </p:cNvPr>
          <p:cNvSpPr txBox="1"/>
          <p:nvPr/>
        </p:nvSpPr>
        <p:spPr>
          <a:xfrm>
            <a:off x="8534400" y="3728630"/>
            <a:ext cx="3303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ate: {the: 1, machine: 1, my: 1, credit: 1}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E350D93-86BD-2E46-A434-1979BBE68B14}"/>
              </a:ext>
            </a:extLst>
          </p:cNvPr>
          <p:cNvGrpSpPr/>
          <p:nvPr/>
        </p:nvGrpSpPr>
        <p:grpSpPr>
          <a:xfrm>
            <a:off x="-1140910" y="2968030"/>
            <a:ext cx="5560510" cy="397133"/>
            <a:chOff x="1088136" y="2336800"/>
            <a:chExt cx="3294459" cy="474133"/>
          </a:xfrm>
        </p:grpSpPr>
        <p:sp>
          <p:nvSpPr>
            <p:cNvPr id="36" name="Frame 35">
              <a:extLst>
                <a:ext uri="{FF2B5EF4-FFF2-40B4-BE49-F238E27FC236}">
                  <a16:creationId xmlns:a16="http://schemas.microsoft.com/office/drawing/2014/main" id="{13A212B4-143B-F64A-A906-4EA863A703B2}"/>
                </a:ext>
              </a:extLst>
            </p:cNvPr>
            <p:cNvSpPr/>
            <p:nvPr/>
          </p:nvSpPr>
          <p:spPr>
            <a:xfrm>
              <a:off x="1088136" y="2336800"/>
              <a:ext cx="3294459" cy="47413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4551EAA-4644-0541-A860-B64A316D1FD7}"/>
                </a:ext>
              </a:extLst>
            </p:cNvPr>
            <p:cNvSpPr/>
            <p:nvPr/>
          </p:nvSpPr>
          <p:spPr>
            <a:xfrm>
              <a:off x="2408788" y="2336801"/>
              <a:ext cx="672267" cy="474132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C4F9EAD-AB94-C348-AF10-8DF93B2E7C7F}"/>
              </a:ext>
            </a:extLst>
          </p:cNvPr>
          <p:cNvGrpSpPr/>
          <p:nvPr/>
        </p:nvGrpSpPr>
        <p:grpSpPr>
          <a:xfrm>
            <a:off x="1069848" y="3685880"/>
            <a:ext cx="5538555" cy="423749"/>
            <a:chOff x="1088136" y="2336800"/>
            <a:chExt cx="3294459" cy="474133"/>
          </a:xfrm>
        </p:grpSpPr>
        <p:sp>
          <p:nvSpPr>
            <p:cNvPr id="39" name="Frame 38">
              <a:extLst>
                <a:ext uri="{FF2B5EF4-FFF2-40B4-BE49-F238E27FC236}">
                  <a16:creationId xmlns:a16="http://schemas.microsoft.com/office/drawing/2014/main" id="{8A61093A-CF19-CF40-96FD-A5874CAE63DD}"/>
                </a:ext>
              </a:extLst>
            </p:cNvPr>
            <p:cNvSpPr/>
            <p:nvPr/>
          </p:nvSpPr>
          <p:spPr>
            <a:xfrm>
              <a:off x="1088136" y="2336800"/>
              <a:ext cx="3294459" cy="474133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6FF6E6-1797-514D-A2E8-CE342FC8313D}"/>
                </a:ext>
              </a:extLst>
            </p:cNvPr>
            <p:cNvSpPr/>
            <p:nvPr/>
          </p:nvSpPr>
          <p:spPr>
            <a:xfrm>
              <a:off x="2422049" y="2336801"/>
              <a:ext cx="641423" cy="474130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DCDC44-1E40-144F-AB47-E881514A1ECF}"/>
              </a:ext>
            </a:extLst>
          </p:cNvPr>
          <p:cNvCxnSpPr>
            <a:stCxn id="7" idx="2"/>
          </p:cNvCxnSpPr>
          <p:nvPr/>
        </p:nvCxnSpPr>
        <p:spPr>
          <a:xfrm flipH="1">
            <a:off x="728133" y="2531003"/>
            <a:ext cx="2432480" cy="298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28CC25-01D4-9D42-8EC6-DFC51DBFF1BB}"/>
              </a:ext>
            </a:extLst>
          </p:cNvPr>
          <p:cNvCxnSpPr>
            <a:stCxn id="7" idx="2"/>
          </p:cNvCxnSpPr>
          <p:nvPr/>
        </p:nvCxnSpPr>
        <p:spPr>
          <a:xfrm flipH="1">
            <a:off x="2997200" y="2531003"/>
            <a:ext cx="163413" cy="353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1BF299-C0D4-BF44-95F6-45F92AA3B510}"/>
              </a:ext>
            </a:extLst>
          </p:cNvPr>
          <p:cNvGrpSpPr/>
          <p:nvPr/>
        </p:nvGrpSpPr>
        <p:grpSpPr>
          <a:xfrm>
            <a:off x="7998128" y="2087960"/>
            <a:ext cx="3719816" cy="3845446"/>
            <a:chOff x="7998128" y="2087960"/>
            <a:chExt cx="3719816" cy="384544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FC08CED-58CA-104F-A60C-A223ADA35F66}"/>
                </a:ext>
              </a:extLst>
            </p:cNvPr>
            <p:cNvSpPr txBox="1"/>
            <p:nvPr/>
          </p:nvSpPr>
          <p:spPr>
            <a:xfrm>
              <a:off x="8545618" y="5287075"/>
              <a:ext cx="3172326" cy="64633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What features will be added for </a:t>
              </a:r>
              <a:r>
                <a:rPr lang="en-US" i="1" dirty="0"/>
                <a:t>my</a:t>
              </a:r>
              <a:r>
                <a:rPr lang="en-US" dirty="0"/>
                <a:t>, </a:t>
              </a:r>
              <a:r>
                <a:rPr lang="en-US" i="1" dirty="0"/>
                <a:t>credit</a:t>
              </a:r>
              <a:r>
                <a:rPr lang="en-US" dirty="0"/>
                <a:t> and </a:t>
              </a:r>
              <a:r>
                <a:rPr lang="en-US" i="1" dirty="0"/>
                <a:t>card</a:t>
              </a:r>
              <a:r>
                <a:rPr lang="en-US" dirty="0"/>
                <a:t>?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720D676-3107-5E4F-96B7-4AE446071CED}"/>
                </a:ext>
              </a:extLst>
            </p:cNvPr>
            <p:cNvSpPr txBox="1"/>
            <p:nvPr/>
          </p:nvSpPr>
          <p:spPr>
            <a:xfrm>
              <a:off x="8062091" y="2087960"/>
              <a:ext cx="3517822" cy="36933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Features added per target word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2C7A437-8116-E24B-BE08-BE3AB1D26004}"/>
                </a:ext>
              </a:extLst>
            </p:cNvPr>
            <p:cNvCxnSpPr>
              <a:stCxn id="31" idx="2"/>
            </p:cNvCxnSpPr>
            <p:nvPr/>
          </p:nvCxnSpPr>
          <p:spPr>
            <a:xfrm>
              <a:off x="9821002" y="2457292"/>
              <a:ext cx="0" cy="3902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ight Arrow 32">
              <a:extLst>
                <a:ext uri="{FF2B5EF4-FFF2-40B4-BE49-F238E27FC236}">
                  <a16:creationId xmlns:a16="http://schemas.microsoft.com/office/drawing/2014/main" id="{6B80C61C-71CA-D643-B724-DE1F24E4E3F4}"/>
                </a:ext>
              </a:extLst>
            </p:cNvPr>
            <p:cNvSpPr/>
            <p:nvPr/>
          </p:nvSpPr>
          <p:spPr>
            <a:xfrm>
              <a:off x="8019225" y="3369473"/>
              <a:ext cx="472309" cy="331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ight Arrow 33">
              <a:extLst>
                <a:ext uri="{FF2B5EF4-FFF2-40B4-BE49-F238E27FC236}">
                  <a16:creationId xmlns:a16="http://schemas.microsoft.com/office/drawing/2014/main" id="{F77CBB65-0FCA-CD4F-88C4-01FD646CA05A}"/>
                </a:ext>
              </a:extLst>
            </p:cNvPr>
            <p:cNvSpPr/>
            <p:nvPr/>
          </p:nvSpPr>
          <p:spPr>
            <a:xfrm>
              <a:off x="8019226" y="2968592"/>
              <a:ext cx="472309" cy="331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ight Arrow 40">
              <a:extLst>
                <a:ext uri="{FF2B5EF4-FFF2-40B4-BE49-F238E27FC236}">
                  <a16:creationId xmlns:a16="http://schemas.microsoft.com/office/drawing/2014/main" id="{5F45E2E6-E5CA-EC4B-8980-F0A1829FE30B}"/>
                </a:ext>
              </a:extLst>
            </p:cNvPr>
            <p:cNvSpPr/>
            <p:nvPr/>
          </p:nvSpPr>
          <p:spPr>
            <a:xfrm>
              <a:off x="7998130" y="3770354"/>
              <a:ext cx="472309" cy="331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ight Arrow 41">
              <a:extLst>
                <a:ext uri="{FF2B5EF4-FFF2-40B4-BE49-F238E27FC236}">
                  <a16:creationId xmlns:a16="http://schemas.microsoft.com/office/drawing/2014/main" id="{3B6F585E-D088-BA42-8D43-3C12F8119C8F}"/>
                </a:ext>
              </a:extLst>
            </p:cNvPr>
            <p:cNvSpPr/>
            <p:nvPr/>
          </p:nvSpPr>
          <p:spPr>
            <a:xfrm>
              <a:off x="7998129" y="4098280"/>
              <a:ext cx="472309" cy="331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ight Arrow 42">
              <a:extLst>
                <a:ext uri="{FF2B5EF4-FFF2-40B4-BE49-F238E27FC236}">
                  <a16:creationId xmlns:a16="http://schemas.microsoft.com/office/drawing/2014/main" id="{F2BAE68D-21D5-B843-BC28-DB16571BF440}"/>
                </a:ext>
              </a:extLst>
            </p:cNvPr>
            <p:cNvSpPr/>
            <p:nvPr/>
          </p:nvSpPr>
          <p:spPr>
            <a:xfrm>
              <a:off x="7998128" y="4475791"/>
              <a:ext cx="472309" cy="331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ight Arrow 43">
              <a:extLst>
                <a:ext uri="{FF2B5EF4-FFF2-40B4-BE49-F238E27FC236}">
                  <a16:creationId xmlns:a16="http://schemas.microsoft.com/office/drawing/2014/main" id="{2AACE502-762C-BF44-B514-717242C1B74E}"/>
                </a:ext>
              </a:extLst>
            </p:cNvPr>
            <p:cNvSpPr/>
            <p:nvPr/>
          </p:nvSpPr>
          <p:spPr>
            <a:xfrm>
              <a:off x="7998346" y="4853302"/>
              <a:ext cx="472309" cy="33101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17752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Distributional Representations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98648" y="1783080"/>
          <a:ext cx="8229600" cy="4536440"/>
        </p:xfrm>
        <a:graphic>
          <a:graphicData uri="http://schemas.openxmlformats.org/drawingml/2006/table">
            <a:tbl>
              <a:tblPr firstRow="1" firstCol="1" lastRow="1" lastCol="1" bandRow="1">
                <a:tableStyleId>{EB344D84-9AFB-497E-A393-DC336BA19D2E}</a:tableStyleId>
              </a:tblPr>
              <a:tblGrid>
                <a:gridCol w="2012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8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6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65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banana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D439DB7-8A8E-5345-AD74-1E61FABFA1CD}"/>
              </a:ext>
            </a:extLst>
          </p:cNvPr>
          <p:cNvSpPr txBox="1"/>
          <p:nvPr/>
        </p:nvSpPr>
        <p:spPr>
          <a:xfrm>
            <a:off x="406401" y="2500375"/>
            <a:ext cx="1862666" cy="258532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Use windowing to extract and count features for all words in a large corpus i.e., distributional representations or vectors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5285BF-672F-2A4F-8861-BF015F7C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375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CA925-2BFD-3D49-99E7-CB8A6CEF8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Cosine similarity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34A62-6EA6-0E48-B366-DD12683CD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CD483-EA01-494E-8035-4C2F88328F55}" type="slidenum">
              <a:rPr lang="en-US" smtClean="0"/>
              <a:t>38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646F43-B1AD-4543-BD42-2600F09C2520}"/>
              </a:ext>
            </a:extLst>
          </p:cNvPr>
          <p:cNvGrpSpPr/>
          <p:nvPr/>
        </p:nvGrpSpPr>
        <p:grpSpPr>
          <a:xfrm>
            <a:off x="1321049" y="2093976"/>
            <a:ext cx="4226311" cy="3878842"/>
            <a:chOff x="1321049" y="2093976"/>
            <a:chExt cx="4226311" cy="387884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3226EF7-4593-A740-9800-EDC0A3D76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4520" y="2093976"/>
              <a:ext cx="0" cy="320954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E85C2AB-8FAB-5547-905A-D8706FFAD59A}"/>
                </a:ext>
              </a:extLst>
            </p:cNvPr>
            <p:cNvCxnSpPr>
              <a:cxnSpLocks/>
            </p:cNvCxnSpPr>
            <p:nvPr/>
          </p:nvCxnSpPr>
          <p:spPr>
            <a:xfrm>
              <a:off x="1874520" y="5303520"/>
              <a:ext cx="367284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EE60249-0F15-6247-9DB7-44FFD55E52AF}"/>
                </a:ext>
              </a:extLst>
            </p:cNvPr>
            <p:cNvSpPr txBox="1"/>
            <p:nvPr/>
          </p:nvSpPr>
          <p:spPr>
            <a:xfrm>
              <a:off x="3215640" y="5603486"/>
              <a:ext cx="17584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score(</a:t>
              </a:r>
              <a:r>
                <a:rPr lang="en-US" i="1" dirty="0"/>
                <a:t>w</a:t>
              </a:r>
              <a:r>
                <a:rPr lang="en-US" dirty="0"/>
                <a:t>, “eat”)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0D0C76-C439-144F-97CF-0CDB6A21E12B}"/>
                </a:ext>
              </a:extLst>
            </p:cNvPr>
            <p:cNvSpPr txBox="1"/>
            <p:nvPr/>
          </p:nvSpPr>
          <p:spPr>
            <a:xfrm rot="16200000">
              <a:off x="469470" y="3271505"/>
              <a:ext cx="2072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score(</a:t>
              </a:r>
              <a:r>
                <a:rPr lang="en-US" i="1" dirty="0"/>
                <a:t>w</a:t>
              </a:r>
              <a:r>
                <a:rPr lang="en-US" dirty="0"/>
                <a:t> “yellow”)</a:t>
              </a:r>
            </a:p>
          </p:txBody>
        </p:sp>
        <p:sp>
          <p:nvSpPr>
            <p:cNvPr id="11" name="Multiply 10">
              <a:extLst>
                <a:ext uri="{FF2B5EF4-FFF2-40B4-BE49-F238E27FC236}">
                  <a16:creationId xmlns:a16="http://schemas.microsoft.com/office/drawing/2014/main" id="{65B92573-771E-6F48-8093-ED3EDB25D8F1}"/>
                </a:ext>
              </a:extLst>
            </p:cNvPr>
            <p:cNvSpPr/>
            <p:nvPr/>
          </p:nvSpPr>
          <p:spPr>
            <a:xfrm>
              <a:off x="4176636" y="2527198"/>
              <a:ext cx="472440" cy="765309"/>
            </a:xfrm>
            <a:prstGeom prst="mathMultipl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Multiply 11">
            <a:extLst>
              <a:ext uri="{FF2B5EF4-FFF2-40B4-BE49-F238E27FC236}">
                <a16:creationId xmlns:a16="http://schemas.microsoft.com/office/drawing/2014/main" id="{FD57E539-34A6-8040-A865-EF2220554258}"/>
              </a:ext>
            </a:extLst>
          </p:cNvPr>
          <p:cNvSpPr/>
          <p:nvPr/>
        </p:nvSpPr>
        <p:spPr>
          <a:xfrm>
            <a:off x="4840572" y="4221089"/>
            <a:ext cx="472440" cy="765309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2580D60-0044-864F-B91D-BC17A8D395BC}"/>
              </a:ext>
            </a:extLst>
          </p:cNvPr>
          <p:cNvCxnSpPr/>
          <p:nvPr/>
        </p:nvCxnSpPr>
        <p:spPr>
          <a:xfrm flipV="1">
            <a:off x="1874520" y="2926080"/>
            <a:ext cx="2545080" cy="237744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AA2713-DDAC-8D42-857A-59791BF35E71}"/>
              </a:ext>
            </a:extLst>
          </p:cNvPr>
          <p:cNvCxnSpPr/>
          <p:nvPr/>
        </p:nvCxnSpPr>
        <p:spPr>
          <a:xfrm flipV="1">
            <a:off x="1874520" y="4617720"/>
            <a:ext cx="3230880" cy="6858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16">
            <a:extLst>
              <a:ext uri="{FF2B5EF4-FFF2-40B4-BE49-F238E27FC236}">
                <a16:creationId xmlns:a16="http://schemas.microsoft.com/office/drawing/2014/main" id="{F6A776EA-E290-2D45-8658-30F6C84DA3CB}"/>
              </a:ext>
            </a:extLst>
          </p:cNvPr>
          <p:cNvSpPr/>
          <p:nvPr/>
        </p:nvSpPr>
        <p:spPr>
          <a:xfrm>
            <a:off x="2880360" y="4404360"/>
            <a:ext cx="441960" cy="579120"/>
          </a:xfrm>
          <a:custGeom>
            <a:avLst/>
            <a:gdLst>
              <a:gd name="connsiteX0" fmla="*/ 0 w 441960"/>
              <a:gd name="connsiteY0" fmla="*/ 0 h 579120"/>
              <a:gd name="connsiteX1" fmla="*/ 365760 w 441960"/>
              <a:gd name="connsiteY1" fmla="*/ 152400 h 579120"/>
              <a:gd name="connsiteX2" fmla="*/ 441960 w 441960"/>
              <a:gd name="connsiteY2" fmla="*/ 579120 h 579120"/>
              <a:gd name="connsiteX3" fmla="*/ 441960 w 441960"/>
              <a:gd name="connsiteY3" fmla="*/ 579120 h 57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1960" h="579120">
                <a:moveTo>
                  <a:pt x="0" y="0"/>
                </a:moveTo>
                <a:cubicBezTo>
                  <a:pt x="146050" y="27940"/>
                  <a:pt x="292100" y="55880"/>
                  <a:pt x="365760" y="152400"/>
                </a:cubicBezTo>
                <a:cubicBezTo>
                  <a:pt x="439420" y="248920"/>
                  <a:pt x="441960" y="579120"/>
                  <a:pt x="441960" y="579120"/>
                </a:cubicBezTo>
                <a:lnTo>
                  <a:pt x="441960" y="57912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DA4BB4-2C6B-AB47-AC3B-A68BA95BD7EF}"/>
              </a:ext>
            </a:extLst>
          </p:cNvPr>
          <p:cNvSpPr txBox="1"/>
          <p:nvPr/>
        </p:nvSpPr>
        <p:spPr>
          <a:xfrm>
            <a:off x="2667000" y="461772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θ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65B15E-10F8-6648-9674-8FA4BDA81EFF}"/>
              </a:ext>
            </a:extLst>
          </p:cNvPr>
          <p:cNvSpPr txBox="1"/>
          <p:nvPr/>
        </p:nvSpPr>
        <p:spPr>
          <a:xfrm>
            <a:off x="6050281" y="1747611"/>
            <a:ext cx="5641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more similar two words are, the smaller the angle </a:t>
            </a:r>
            <a:r>
              <a:rPr lang="en-US" dirty="0" err="1"/>
              <a:t>θ</a:t>
            </a:r>
            <a:r>
              <a:rPr lang="en-US" dirty="0"/>
              <a:t> between their vectors will 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So: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9431F3-8E51-0042-B3A8-2C3A76163652}"/>
              </a:ext>
            </a:extLst>
          </p:cNvPr>
          <p:cNvSpPr txBox="1"/>
          <p:nvPr/>
        </p:nvSpPr>
        <p:spPr>
          <a:xfrm>
            <a:off x="3062393" y="356251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74F9A4-02A1-A94F-A6D1-698F948710D8}"/>
              </a:ext>
            </a:extLst>
          </p:cNvPr>
          <p:cNvSpPr txBox="1"/>
          <p:nvPr/>
        </p:nvSpPr>
        <p:spPr>
          <a:xfrm>
            <a:off x="4028106" y="441290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D48B34C-F6C5-6646-B071-2643B3843640}"/>
                  </a:ext>
                </a:extLst>
              </p:cNvPr>
              <p:cNvSpPr txBox="1"/>
              <p:nvPr/>
            </p:nvSpPr>
            <p:spPr>
              <a:xfrm>
                <a:off x="6951191" y="2900883"/>
                <a:ext cx="29976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𝑠𝑖𝑚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D48B34C-F6C5-6646-B071-2643B3843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1191" y="2900883"/>
                <a:ext cx="2997680" cy="369332"/>
              </a:xfrm>
              <a:prstGeom prst="rect">
                <a:avLst/>
              </a:prstGeom>
              <a:blipFill>
                <a:blip r:embed="rId2"/>
                <a:stretch>
                  <a:fillRect l="-422" t="-6897" r="-2110" b="-37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CD446019-D3A6-3043-B772-AA02E197ADBA}"/>
              </a:ext>
            </a:extLst>
          </p:cNvPr>
          <p:cNvSpPr txBox="1"/>
          <p:nvPr/>
        </p:nvSpPr>
        <p:spPr>
          <a:xfrm>
            <a:off x="3870960" y="252719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136131-07C8-C743-BB9E-F24C0783BA14}"/>
              </a:ext>
            </a:extLst>
          </p:cNvPr>
          <p:cNvSpPr txBox="1"/>
          <p:nvPr/>
        </p:nvSpPr>
        <p:spPr>
          <a:xfrm>
            <a:off x="4487558" y="4343050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9154ED-1995-9E4D-8316-CA75F89A9812}"/>
                  </a:ext>
                </a:extLst>
              </p:cNvPr>
              <p:cNvSpPr txBox="1"/>
              <p:nvPr/>
            </p:nvSpPr>
            <p:spPr>
              <a:xfrm>
                <a:off x="8564880" y="4097398"/>
                <a:ext cx="1769202" cy="856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ar>
                            <m:bar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ba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bar>
                            <m:bar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ba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bar>
                                <m:bar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ba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bar>
                                <m:bar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ba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bar>
                                <m:bar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ba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bar>
                                <m:bar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bar>
                            </m:e>
                          </m:rad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9154ED-1995-9E4D-8316-CA75F89A9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4880" y="4097398"/>
                <a:ext cx="1769202" cy="856260"/>
              </a:xfrm>
              <a:prstGeom prst="rect">
                <a:avLst/>
              </a:prstGeom>
              <a:blipFill>
                <a:blip r:embed="rId4"/>
                <a:stretch>
                  <a:fillRect l="-709" t="-1471" r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7601DC3-75AD-A943-95D6-2AF62E72756B}"/>
                  </a:ext>
                </a:extLst>
              </p:cNvPr>
              <p:cNvSpPr txBox="1"/>
              <p:nvPr/>
            </p:nvSpPr>
            <p:spPr>
              <a:xfrm>
                <a:off x="7306510" y="5737598"/>
                <a:ext cx="1925975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ba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bar>
                        <m:bar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ba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7601DC3-75AD-A943-95D6-2AF62E727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510" y="5737598"/>
                <a:ext cx="1925975" cy="1008225"/>
              </a:xfrm>
              <a:prstGeom prst="rect">
                <a:avLst/>
              </a:prstGeom>
              <a:blipFill>
                <a:blip r:embed="rId5"/>
                <a:stretch>
                  <a:fillRect l="-13072" t="-121250" r="-7843" b="-18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7DC7C0BC-DF4B-BA4E-B7B6-A6A9C26D8641}"/>
              </a:ext>
            </a:extLst>
          </p:cNvPr>
          <p:cNvSpPr txBox="1"/>
          <p:nvPr/>
        </p:nvSpPr>
        <p:spPr>
          <a:xfrm>
            <a:off x="6339835" y="5451193"/>
            <a:ext cx="966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505DD4-FE22-1541-8F07-9355F27D3ACB}"/>
              </a:ext>
            </a:extLst>
          </p:cNvPr>
          <p:cNvSpPr txBox="1"/>
          <p:nvPr/>
        </p:nvSpPr>
        <p:spPr>
          <a:xfrm>
            <a:off x="9232485" y="5368266"/>
            <a:ext cx="2917145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m=number of dimensions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242F3C1-5395-3A4D-B04F-F41E1C959CAC}"/>
              </a:ext>
            </a:extLst>
          </p:cNvPr>
          <p:cNvCxnSpPr>
            <a:stCxn id="29" idx="1"/>
          </p:cNvCxnSpPr>
          <p:nvPr/>
        </p:nvCxnSpPr>
        <p:spPr>
          <a:xfrm flipH="1">
            <a:off x="8549640" y="5552932"/>
            <a:ext cx="682845" cy="267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C657448-99D8-3C4B-9A6A-A28B7C0A47B4}"/>
              </a:ext>
            </a:extLst>
          </p:cNvPr>
          <p:cNvSpPr txBox="1"/>
          <p:nvPr/>
        </p:nvSpPr>
        <p:spPr>
          <a:xfrm>
            <a:off x="10334082" y="3734176"/>
            <a:ext cx="141615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dot product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FAA7A81-3063-6C43-8827-E242A25C0869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9662160" y="3918842"/>
            <a:ext cx="671922" cy="240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6437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DA8F1-9A95-E240-A363-B3C4576D2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cosine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2EA50-C431-1341-912A-C3579BE4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90A4-8B02-E24B-9DC0-51D7A084DDC4}" type="slidenum">
              <a:rPr lang="en-US" smtClean="0"/>
              <a:t>39</a:t>
            </a:fld>
            <a:endParaRPr lang="en-US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1FD6E09A-4C21-F04B-A008-60C1A5CCB6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49636" y="1732598"/>
          <a:ext cx="7847998" cy="4805076"/>
        </p:xfrm>
        <a:graphic>
          <a:graphicData uri="http://schemas.openxmlformats.org/drawingml/2006/table">
            <a:tbl>
              <a:tblPr firstRow="1" firstCol="1" lastRow="1" bandRow="1">
                <a:tableStyleId>{EB344D84-9AFB-497E-A393-DC336BA19D2E}</a:tableStyleId>
              </a:tblPr>
              <a:tblGrid>
                <a:gridCol w="1144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0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07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0703">
                  <a:extLst>
                    <a:ext uri="{9D8B030D-6E8A-4147-A177-3AD203B41FA5}">
                      <a16:colId xmlns:a16="http://schemas.microsoft.com/office/drawing/2014/main" val="2835887082"/>
                    </a:ext>
                  </a:extLst>
                </a:gridCol>
              </a:tblGrid>
              <a:tr h="570335">
                <a:tc>
                  <a:txBody>
                    <a:bodyPr/>
                    <a:lstStyle/>
                    <a:p>
                      <a:r>
                        <a:rPr lang="en-US" i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banana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meat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1" dirty="0" err="1"/>
                        <a:t>a.b</a:t>
                      </a:r>
                      <a:endParaRPr lang="en-US" sz="1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a.a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err="1"/>
                        <a:t>b.b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934">
                <a:tc>
                  <a:txBody>
                    <a:bodyPr/>
                    <a:lstStyle/>
                    <a:p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r>
                        <a:rPr lang="en-US" dirty="0"/>
                        <a:t>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r>
                        <a:rPr lang="en-US" dirty="0"/>
                        <a:t>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r>
                        <a:rPr lang="en-US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r>
                        <a:rPr lang="en-US" dirty="0"/>
                        <a:t>tiger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r>
                        <a:rPr lang="en-US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7141">
                <a:tc>
                  <a:txBody>
                    <a:bodyPr/>
                    <a:lstStyle/>
                    <a:p>
                      <a:r>
                        <a:rPr lang="en-US" dirty="0"/>
                        <a:t>monkey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332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81EBC7-51BE-A94E-B7A3-C4359BDDA7A1}"/>
                  </a:ext>
                </a:extLst>
              </p:cNvPr>
              <p:cNvSpPr txBox="1"/>
              <p:nvPr/>
            </p:nvSpPr>
            <p:spPr>
              <a:xfrm>
                <a:off x="8954297" y="3753525"/>
                <a:ext cx="2944011" cy="76322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os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𝑏𝑎𝑛𝑎𝑛𝑎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𝑚𝑒𝑎𝑡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1366</m:t>
                          </m:r>
                        </m:num>
                        <m:den>
                          <m:eqArr>
                            <m:eqArr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1684</m:t>
                              </m:r>
                            </m: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=0.81</m:t>
                              </m:r>
                            </m:e>
                          </m:eqAr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81EBC7-51BE-A94E-B7A3-C4359BDDA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4297" y="3753525"/>
                <a:ext cx="2944011" cy="763222"/>
              </a:xfrm>
              <a:prstGeom prst="rect">
                <a:avLst/>
              </a:prstGeom>
              <a:blipFill>
                <a:blip r:embed="rId2"/>
                <a:stretch>
                  <a:fillRect l="-427" t="-3226" r="-427" b="-48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90007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A0CCE-73E0-7141-92D3-BC0604D3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Pointwise Mutual information (PMI)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AFC3B-BF33-C547-9FFD-0820075B4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9835219" cy="4151376"/>
          </a:xfrm>
        </p:spPr>
        <p:txBody>
          <a:bodyPr>
            <a:normAutofit/>
          </a:bodyPr>
          <a:lstStyle/>
          <a:p>
            <a:r>
              <a:rPr lang="en-US" sz="2400" dirty="0"/>
              <a:t>Frequency and/or simple conditional probability do not capture the intuition that some features are more informative than others</a:t>
            </a:r>
          </a:p>
          <a:p>
            <a:r>
              <a:rPr lang="en-US" sz="2400" i="1" dirty="0">
                <a:solidFill>
                  <a:schemeClr val="accent6"/>
                </a:solidFill>
              </a:rPr>
              <a:t>the</a:t>
            </a:r>
            <a:r>
              <a:rPr lang="en-US" sz="2400" dirty="0"/>
              <a:t> and </a:t>
            </a:r>
            <a:r>
              <a:rPr lang="en-US" sz="2400" i="1" dirty="0">
                <a:solidFill>
                  <a:schemeClr val="accent6"/>
                </a:solidFill>
              </a:rPr>
              <a:t>is</a:t>
            </a:r>
            <a:r>
              <a:rPr lang="en-US" sz="2400" dirty="0"/>
              <a:t> appear relatively frequently with all of the words</a:t>
            </a:r>
          </a:p>
          <a:p>
            <a:pPr lvl="1"/>
            <a:r>
              <a:rPr lang="en-US" sz="2000" dirty="0"/>
              <a:t>so their contribution to similarity should be smaller </a:t>
            </a:r>
          </a:p>
          <a:p>
            <a:r>
              <a:rPr lang="en-US" sz="2400" dirty="0"/>
              <a:t>PMI measures the amount of information gained by seeing a word and a feature together</a:t>
            </a:r>
          </a:p>
          <a:p>
            <a:r>
              <a:rPr lang="en-US" sz="2400" dirty="0"/>
              <a:t>A feature which co-occurs with a target word more than we would expect (if words and features occurred independently) has more weight in the similarity calculation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F8175-9115-B147-AA31-336E32209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90A4-8B02-E24B-9DC0-51D7A084DDC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5745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472F-A2AB-6E41-8748-D152672F0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PMI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6C266-401D-854D-A950-4D478883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90A4-8B02-E24B-9DC0-51D7A084DDC4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B0E5352-F580-6F43-B229-C9556FE607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3661" y="2093976"/>
          <a:ext cx="3066478" cy="9929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500" imgH="431800" progId="Equation.3">
                  <p:embed/>
                </p:oleObj>
              </mc:Choice>
              <mc:Fallback>
                <p:oleObj name="Equation" r:id="rId2" imgW="1333500" imgH="431800" progId="Equation.3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CB0E5352-F580-6F43-B229-C9556FE607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93661" y="2093976"/>
                        <a:ext cx="3066478" cy="9929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1D42F74-EDE1-7344-A9E3-E356F0E32E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3952" y="2093976"/>
          <a:ext cx="24828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300" imgH="431800" progId="Equation.3">
                  <p:embed/>
                </p:oleObj>
              </mc:Choice>
              <mc:Fallback>
                <p:oleObj name="Equation" r:id="rId4" imgW="1130300" imgH="431800" progId="Equation.3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1D42F74-EDE1-7344-A9E3-E356F0E32E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83952" y="2093976"/>
                        <a:ext cx="2482850" cy="949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E5FDD6-5986-8E4A-9EA0-20861C8CEA69}"/>
                  </a:ext>
                </a:extLst>
              </p:cNvPr>
              <p:cNvSpPr txBox="1"/>
              <p:nvPr/>
            </p:nvSpPr>
            <p:spPr>
              <a:xfrm>
                <a:off x="1393661" y="3703320"/>
                <a:ext cx="4630498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freq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)×</m:t>
                              </m:r>
                              <m:r>
                                <m:rPr>
                                  <m:nor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freq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(∗,∗)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</a:rPr>
                                <m:t>freq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(∗, 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)×</m:t>
                              </m:r>
                              <m:r>
                                <m:rPr>
                                  <m:nor/>
                                </m:rPr>
                                <a:rPr lang="en-GB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freq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∗)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E5FDD6-5986-8E4A-9EA0-20861C8CE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661" y="3703320"/>
                <a:ext cx="4630498" cy="768993"/>
              </a:xfrm>
              <a:prstGeom prst="rect">
                <a:avLst/>
              </a:prstGeom>
              <a:blipFill>
                <a:blip r:embed="rId7"/>
                <a:stretch>
                  <a:fillRect t="-3279" r="-82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135A504-2B25-DA44-800B-F89E56BD21E2}"/>
              </a:ext>
            </a:extLst>
          </p:cNvPr>
          <p:cNvSpPr txBox="1"/>
          <p:nvPr/>
        </p:nvSpPr>
        <p:spPr>
          <a:xfrm>
            <a:off x="2641600" y="5130800"/>
            <a:ext cx="1089978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row total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D32104-A4EC-844B-8A0B-EBC79863A0CC}"/>
              </a:ext>
            </a:extLst>
          </p:cNvPr>
          <p:cNvSpPr txBox="1"/>
          <p:nvPr/>
        </p:nvSpPr>
        <p:spPr>
          <a:xfrm>
            <a:off x="5249333" y="5088702"/>
            <a:ext cx="1486304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column total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5CD9D-2365-C24A-94DA-4A5FE3D15604}"/>
              </a:ext>
            </a:extLst>
          </p:cNvPr>
          <p:cNvSpPr txBox="1"/>
          <p:nvPr/>
        </p:nvSpPr>
        <p:spPr>
          <a:xfrm>
            <a:off x="6417733" y="3703320"/>
            <a:ext cx="1336263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grand total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6E7CD9-3896-7241-BCCC-C989BBE86D59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5926376" y="3881335"/>
            <a:ext cx="491357" cy="6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50F9F1-3604-6E46-90A3-C0739C269080}"/>
              </a:ext>
            </a:extLst>
          </p:cNvPr>
          <p:cNvCxnSpPr>
            <a:stCxn id="10" idx="0"/>
          </p:cNvCxnSpPr>
          <p:nvPr/>
        </p:nvCxnSpPr>
        <p:spPr>
          <a:xfrm flipH="1" flipV="1">
            <a:off x="5418667" y="4472313"/>
            <a:ext cx="573818" cy="616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3CE476D-BFF1-7F42-AEBF-6D3BA4A1388C}"/>
              </a:ext>
            </a:extLst>
          </p:cNvPr>
          <p:cNvCxnSpPr>
            <a:stCxn id="9" idx="0"/>
            <a:endCxn id="8" idx="2"/>
          </p:cNvCxnSpPr>
          <p:nvPr/>
        </p:nvCxnSpPr>
        <p:spPr>
          <a:xfrm flipV="1">
            <a:off x="3186589" y="4472313"/>
            <a:ext cx="522321" cy="658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2409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9767485" cy="1124035"/>
          </a:xfrm>
        </p:spPr>
        <p:txBody>
          <a:bodyPr/>
          <a:lstStyle/>
          <a:p>
            <a:r>
              <a:rPr lang="en-US" dirty="0"/>
              <a:t>Representations based on PMI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9467" y="1608667"/>
          <a:ext cx="5046133" cy="4622800"/>
        </p:xfrm>
        <a:graphic>
          <a:graphicData uri="http://schemas.openxmlformats.org/drawingml/2006/table">
            <a:tbl>
              <a:tblPr firstRow="1" firstCol="1" lastRow="1" lastCol="1" bandRow="1">
                <a:tableStyleId>{EB344D84-9AFB-497E-A393-DC336BA19D2E}</a:tableStyleId>
              </a:tblPr>
              <a:tblGrid>
                <a:gridCol w="1089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banana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meat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44C8E4AD-A61E-BE45-B24C-6F6EB0D0F62A}"/>
              </a:ext>
            </a:extLst>
          </p:cNvPr>
          <p:cNvGraphicFramePr>
            <a:graphicFrameLocks/>
          </p:cNvGraphicFramePr>
          <p:nvPr/>
        </p:nvGraphicFramePr>
        <p:xfrm>
          <a:off x="7196666" y="1608667"/>
          <a:ext cx="4128330" cy="4079240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090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7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banana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meat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credit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Right Arrow 2">
            <a:extLst>
              <a:ext uri="{FF2B5EF4-FFF2-40B4-BE49-F238E27FC236}">
                <a16:creationId xmlns:a16="http://schemas.microsoft.com/office/drawing/2014/main" id="{A44796E0-0A26-EB4C-B38A-A5C621CFB656}"/>
              </a:ext>
            </a:extLst>
          </p:cNvPr>
          <p:cNvSpPr/>
          <p:nvPr/>
        </p:nvSpPr>
        <p:spPr>
          <a:xfrm>
            <a:off x="5767323" y="3584787"/>
            <a:ext cx="880533" cy="4978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79756E-B1C4-E046-8408-931FBC1C0A44}"/>
                  </a:ext>
                </a:extLst>
              </p:cNvPr>
              <p:cNvSpPr txBox="1"/>
              <p:nvPr/>
            </p:nvSpPr>
            <p:spPr>
              <a:xfrm>
                <a:off x="5586041" y="2076263"/>
                <a:ext cx="123187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×400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79756E-B1C4-E046-8408-931FBC1C0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041" y="2076263"/>
                <a:ext cx="1231876" cy="520399"/>
              </a:xfrm>
              <a:prstGeom prst="rect">
                <a:avLst/>
              </a:prstGeom>
              <a:blipFill>
                <a:blip r:embed="rId2"/>
                <a:stretch>
                  <a:fillRect l="-6122" t="-2381" r="-408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EF13A6-992C-6846-AA67-7FE91AF035B0}"/>
              </a:ext>
            </a:extLst>
          </p:cNvPr>
          <p:cNvCxnSpPr>
            <a:stCxn id="8" idx="3"/>
          </p:cNvCxnSpPr>
          <p:nvPr/>
        </p:nvCxnSpPr>
        <p:spPr>
          <a:xfrm flipV="1">
            <a:off x="6817917" y="2201333"/>
            <a:ext cx="1564083" cy="135130"/>
          </a:xfrm>
          <a:prstGeom prst="straightConnector1">
            <a:avLst/>
          </a:prstGeom>
          <a:ln w="444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7C640-4889-3548-B5E5-688BB652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296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7C93-342F-EF40-8D9A-DC3DF600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PMI (PPMI)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0DB91-E12E-0541-845B-6418EFC3A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408175"/>
            <a:ext cx="10380133" cy="3654892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What happens when frequency of co-occurrence is 0?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PMI = negative infinity!!!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positive PMI avoids this problem </a:t>
            </a:r>
          </a:p>
          <a:p>
            <a:pPr lvl="1">
              <a:lnSpc>
                <a:spcPct val="200000"/>
              </a:lnSpc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similarity is then also based on shared features rather than the sharing of absent features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D862C-AF1B-0140-9A14-6080A20C0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90A4-8B02-E24B-9DC0-51D7A084DDC4}" type="slidenum">
              <a:rPr lang="en-US" smtClean="0"/>
              <a:t>43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18019E-7DDE-624F-A152-93D206C75E6D}"/>
                  </a:ext>
                </a:extLst>
              </p:cNvPr>
              <p:cNvSpPr txBox="1"/>
              <p:nvPr/>
            </p:nvSpPr>
            <p:spPr>
              <a:xfrm>
                <a:off x="3644271" y="5063067"/>
                <a:ext cx="4903458" cy="823815"/>
              </a:xfrm>
              <a:prstGeom prst="rect">
                <a:avLst/>
              </a:prstGeom>
              <a:noFill/>
              <a:ln>
                <a:solidFill>
                  <a:schemeClr val="accent1">
                    <a:shade val="95000"/>
                    <a:satMod val="105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PPMI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e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GB" sz="2400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</m:d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&gt;0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  <m:t>     </m:t>
                                    </m: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</a:rPr>
                                      <m:t>     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</a:rPr>
                                      <m:t>otherwise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18019E-7DDE-624F-A152-93D206C75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271" y="5063067"/>
                <a:ext cx="4903458" cy="823815"/>
              </a:xfrm>
              <a:prstGeom prst="rect">
                <a:avLst/>
              </a:prstGeom>
              <a:blipFill>
                <a:blip r:embed="rId2"/>
                <a:stretch>
                  <a:fillRect t="-220896" b="-316418"/>
                </a:stretch>
              </a:blipFill>
              <a:ln>
                <a:solidFill>
                  <a:schemeClr val="accent1">
                    <a:shade val="95000"/>
                    <a:satMod val="10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96237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9767485" cy="1124035"/>
          </a:xfrm>
        </p:spPr>
        <p:txBody>
          <a:bodyPr/>
          <a:lstStyle/>
          <a:p>
            <a:r>
              <a:rPr lang="en-US" dirty="0"/>
              <a:t>Representations based on PPMI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9467" y="1608667"/>
          <a:ext cx="5046133" cy="4622800"/>
        </p:xfrm>
        <a:graphic>
          <a:graphicData uri="http://schemas.openxmlformats.org/drawingml/2006/table">
            <a:tbl>
              <a:tblPr firstRow="1" firstCol="1" lastRow="1" lastCol="1" bandRow="1">
                <a:tableStyleId>{EB344D84-9AFB-497E-A393-DC336BA19D2E}</a:tableStyleId>
              </a:tblPr>
              <a:tblGrid>
                <a:gridCol w="1089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8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banana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meat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credit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FFC000"/>
                          </a:solidFill>
                        </a:rPr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44C8E4AD-A61E-BE45-B24C-6F6EB0D0F62A}"/>
              </a:ext>
            </a:extLst>
          </p:cNvPr>
          <p:cNvGraphicFramePr>
            <a:graphicFrameLocks/>
          </p:cNvGraphicFramePr>
          <p:nvPr/>
        </p:nvGraphicFramePr>
        <p:xfrm>
          <a:off x="7196666" y="1608667"/>
          <a:ext cx="4128330" cy="4079240"/>
        </p:xfrm>
        <a:graphic>
          <a:graphicData uri="http://schemas.openxmlformats.org/drawingml/2006/table">
            <a:tbl>
              <a:tblPr firstRow="1" firstCol="1" bandRow="1">
                <a:tableStyleId>{6E25E649-3F16-4E02-A733-19D2CDBF48F0}</a:tableStyleId>
              </a:tblPr>
              <a:tblGrid>
                <a:gridCol w="1090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7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3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banana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meat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credit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Right Arrow 2">
            <a:extLst>
              <a:ext uri="{FF2B5EF4-FFF2-40B4-BE49-F238E27FC236}">
                <a16:creationId xmlns:a16="http://schemas.microsoft.com/office/drawing/2014/main" id="{A44796E0-0A26-EB4C-B38A-A5C621CFB656}"/>
              </a:ext>
            </a:extLst>
          </p:cNvPr>
          <p:cNvSpPr/>
          <p:nvPr/>
        </p:nvSpPr>
        <p:spPr>
          <a:xfrm>
            <a:off x="5767323" y="3584787"/>
            <a:ext cx="880533" cy="4978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79756E-B1C4-E046-8408-931FBC1C0A44}"/>
                  </a:ext>
                </a:extLst>
              </p:cNvPr>
              <p:cNvSpPr txBox="1"/>
              <p:nvPr/>
            </p:nvSpPr>
            <p:spPr>
              <a:xfrm>
                <a:off x="5586041" y="2076263"/>
                <a:ext cx="1231876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×400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79756E-B1C4-E046-8408-931FBC1C0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041" y="2076263"/>
                <a:ext cx="1231876" cy="520399"/>
              </a:xfrm>
              <a:prstGeom prst="rect">
                <a:avLst/>
              </a:prstGeom>
              <a:blipFill>
                <a:blip r:embed="rId2"/>
                <a:stretch>
                  <a:fillRect l="-6122" t="-2381" r="-4082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EF13A6-992C-6846-AA67-7FE91AF035B0}"/>
              </a:ext>
            </a:extLst>
          </p:cNvPr>
          <p:cNvCxnSpPr>
            <a:stCxn id="8" idx="3"/>
          </p:cNvCxnSpPr>
          <p:nvPr/>
        </p:nvCxnSpPr>
        <p:spPr>
          <a:xfrm flipV="1">
            <a:off x="6817917" y="2201333"/>
            <a:ext cx="1564083" cy="135130"/>
          </a:xfrm>
          <a:prstGeom prst="straightConnector1">
            <a:avLst/>
          </a:prstGeom>
          <a:ln w="444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4BA5B-D108-1B4A-AE72-72CE13851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393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37459-721D-124F-9B07-8E3C9F98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thesaurus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63ED5-6A0A-7C49-8BAF-E81E2BA54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Extract feature representations based on corpus co-occurrence frequencies</a:t>
            </a:r>
          </a:p>
          <a:p>
            <a:r>
              <a:rPr lang="en-US" sz="2800" dirty="0"/>
              <a:t>Convert representations to PPMI</a:t>
            </a:r>
          </a:p>
          <a:p>
            <a:r>
              <a:rPr lang="en-US" sz="2800" dirty="0"/>
              <a:t>Calculate cosine similarities for all pairs of words</a:t>
            </a:r>
          </a:p>
          <a:p>
            <a:pPr lvl="1"/>
            <a:r>
              <a:rPr lang="en-US" sz="2400" dirty="0"/>
              <a:t>computationally very expensive</a:t>
            </a:r>
          </a:p>
          <a:p>
            <a:pPr lvl="1"/>
            <a:r>
              <a:rPr lang="en-US" sz="2400" dirty="0"/>
              <a:t>may want to reduce the number of words considered in vocab</a:t>
            </a:r>
          </a:p>
          <a:p>
            <a:pPr lvl="1"/>
            <a:r>
              <a:rPr lang="en-US" sz="2400" dirty="0"/>
              <a:t>e.g., top 10,000 words</a:t>
            </a:r>
          </a:p>
          <a:p>
            <a:r>
              <a:rPr lang="en-US" sz="2800" dirty="0"/>
              <a:t>Find nearest </a:t>
            </a:r>
            <a:r>
              <a:rPr lang="en-US" sz="2800" dirty="0" err="1"/>
              <a:t>neighbours</a:t>
            </a:r>
            <a:r>
              <a:rPr lang="en-US" sz="2800" dirty="0"/>
              <a:t> of each word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A21C1-FC93-E248-996E-30C020CD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90A4-8B02-E24B-9DC0-51D7A084DDC4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7345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C493300-AF04-1746-B222-64A5A172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E2541FC-67B3-9447-B5ED-DC14AC49B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Difficult – why?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Intrinsic evaluation</a:t>
            </a:r>
          </a:p>
          <a:p>
            <a:pPr lvl="1">
              <a:lnSpc>
                <a:spcPct val="200000"/>
              </a:lnSpc>
            </a:pPr>
            <a:r>
              <a:rPr lang="en-US" sz="2600" dirty="0"/>
              <a:t>human synonymy judgements</a:t>
            </a:r>
          </a:p>
          <a:p>
            <a:pPr lvl="1">
              <a:lnSpc>
                <a:spcPct val="200000"/>
              </a:lnSpc>
            </a:pPr>
            <a:r>
              <a:rPr lang="en-US" sz="2600" dirty="0"/>
              <a:t>manually compiled thesauruses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Extrinsic evaluation</a:t>
            </a:r>
          </a:p>
          <a:p>
            <a:pPr lvl="1">
              <a:lnSpc>
                <a:spcPct val="200000"/>
              </a:lnSpc>
            </a:pPr>
            <a:r>
              <a:rPr lang="en-US" sz="2600" dirty="0"/>
              <a:t>performance gain in an application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B2F86B-7E8F-8A40-AC6E-D00E343C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8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ambiguity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7" y="1537847"/>
            <a:ext cx="10783486" cy="798953"/>
          </a:xfrm>
        </p:spPr>
        <p:txBody>
          <a:bodyPr>
            <a:normAutofit lnSpcReduction="10000"/>
          </a:bodyPr>
          <a:lstStyle/>
          <a:p>
            <a:pPr marL="118872" indent="0">
              <a:buNone/>
            </a:pPr>
            <a:r>
              <a:rPr lang="en-US" sz="2400" dirty="0"/>
              <a:t>Here is the distributional thesaurus entry for the noun </a:t>
            </a:r>
            <a:r>
              <a:rPr lang="en-US" sz="2400" i="1" dirty="0"/>
              <a:t>bow</a:t>
            </a:r>
            <a:r>
              <a:rPr lang="en-US" sz="2400" dirty="0"/>
              <a:t> (derived using </a:t>
            </a:r>
            <a:r>
              <a:rPr lang="en-US" sz="2400" dirty="0" err="1"/>
              <a:t>nltk.lin_thesaurus</a:t>
            </a:r>
            <a:r>
              <a:rPr lang="en-US" sz="2400" dirty="0"/>
              <a:t>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04342" y="2336800"/>
          <a:ext cx="2962858" cy="424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974">
                <a:tc>
                  <a:txBody>
                    <a:bodyPr/>
                    <a:lstStyle/>
                    <a:p>
                      <a:r>
                        <a:rPr lang="en-US" dirty="0"/>
                        <a:t>bow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974">
                <a:tc>
                  <a:txBody>
                    <a:bodyPr/>
                    <a:lstStyle/>
                    <a:p>
                      <a:r>
                        <a:rPr lang="en-US" dirty="0"/>
                        <a:t>ribbon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974">
                <a:tc>
                  <a:txBody>
                    <a:bodyPr/>
                    <a:lstStyle/>
                    <a:p>
                      <a:r>
                        <a:rPr lang="en-US" dirty="0"/>
                        <a:t>machete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974">
                <a:tc>
                  <a:txBody>
                    <a:bodyPr/>
                    <a:lstStyle/>
                    <a:p>
                      <a:r>
                        <a:rPr lang="en-US" dirty="0"/>
                        <a:t>spear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974">
                <a:tc>
                  <a:txBody>
                    <a:bodyPr/>
                    <a:lstStyle/>
                    <a:p>
                      <a:r>
                        <a:rPr lang="en-US" dirty="0"/>
                        <a:t>hull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974">
                <a:tc>
                  <a:txBody>
                    <a:bodyPr/>
                    <a:lstStyle/>
                    <a:p>
                      <a:r>
                        <a:rPr lang="en-US" dirty="0"/>
                        <a:t>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974">
                <a:tc>
                  <a:txBody>
                    <a:bodyPr/>
                    <a:lstStyle/>
                    <a:p>
                      <a:r>
                        <a:rPr lang="en-US" dirty="0"/>
                        <a:t>knife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974">
                <a:tc>
                  <a:txBody>
                    <a:bodyPr/>
                    <a:lstStyle/>
                    <a:p>
                      <a:r>
                        <a:rPr lang="en-US" dirty="0"/>
                        <a:t>arrow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974">
                <a:tc>
                  <a:txBody>
                    <a:bodyPr/>
                    <a:lstStyle/>
                    <a:p>
                      <a:r>
                        <a:rPr lang="en-US" dirty="0"/>
                        <a:t>scarf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974">
                <a:tc>
                  <a:txBody>
                    <a:bodyPr/>
                    <a:lstStyle/>
                    <a:p>
                      <a:r>
                        <a:rPr lang="en-US" dirty="0"/>
                        <a:t>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91190">
                <a:tc>
                  <a:txBody>
                    <a:bodyPr/>
                    <a:lstStyle/>
                    <a:p>
                      <a:r>
                        <a:rPr lang="en-US" dirty="0"/>
                        <a:t>streamer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97554" y="2568369"/>
            <a:ext cx="62308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What different senses of the word bow do you think are captured by the thesaurus entry?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Are the </a:t>
            </a:r>
            <a:r>
              <a:rPr lang="en-US" sz="2400" dirty="0" err="1">
                <a:solidFill>
                  <a:srgbClr val="00B050"/>
                </a:solidFill>
              </a:rPr>
              <a:t>neighbours</a:t>
            </a:r>
            <a:r>
              <a:rPr lang="en-US" sz="2400" dirty="0">
                <a:solidFill>
                  <a:srgbClr val="00B050"/>
                </a:solidFill>
              </a:rPr>
              <a:t> distributed evenly between the senses or do some senses have more </a:t>
            </a:r>
            <a:r>
              <a:rPr lang="en-US" sz="2400" dirty="0" err="1">
                <a:solidFill>
                  <a:srgbClr val="00B050"/>
                </a:solidFill>
              </a:rPr>
              <a:t>neighbours</a:t>
            </a:r>
            <a:r>
              <a:rPr lang="en-US" sz="2400" dirty="0">
                <a:solidFill>
                  <a:srgbClr val="00B050"/>
                </a:solidFill>
              </a:rPr>
              <a:t> than others?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Why do you think this 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E8977-EA8F-7E4A-8851-72392B395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4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E83A-53A8-E840-A9A0-E639CF4C2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Senses in Distributional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39EA8-5509-1B46-ABA2-6C2BC3A3C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Distributional representations are of words not senses</a:t>
            </a:r>
          </a:p>
          <a:p>
            <a:pPr lvl="1"/>
            <a:r>
              <a:rPr lang="en-US" sz="2200" dirty="0"/>
              <a:t>mixture of senses in distributional </a:t>
            </a:r>
            <a:r>
              <a:rPr lang="en-US" sz="2200" dirty="0" err="1"/>
              <a:t>neighbourhoods</a:t>
            </a:r>
            <a:endParaRPr lang="en-US" sz="2200" dirty="0"/>
          </a:p>
          <a:p>
            <a:pPr lvl="1"/>
            <a:r>
              <a:rPr lang="en-US" sz="2200" dirty="0"/>
              <a:t>this can be a problem in some applications. ….?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possible solutions: carry out WSD </a:t>
            </a:r>
          </a:p>
          <a:p>
            <a:pPr lvl="2"/>
            <a:r>
              <a:rPr lang="en-US" sz="2000" dirty="0"/>
              <a:t>before finding distributional </a:t>
            </a:r>
            <a:r>
              <a:rPr lang="en-US" sz="2000" dirty="0" err="1"/>
              <a:t>neighbours</a:t>
            </a:r>
            <a:endParaRPr lang="en-US" sz="2000" dirty="0"/>
          </a:p>
          <a:p>
            <a:pPr lvl="2"/>
            <a:r>
              <a:rPr lang="en-US" sz="2000" dirty="0"/>
              <a:t>after finding distributional </a:t>
            </a:r>
            <a:r>
              <a:rPr lang="en-US" sz="2000" dirty="0" err="1"/>
              <a:t>neighbours</a:t>
            </a:r>
            <a:endParaRPr lang="en-US" sz="2000" dirty="0"/>
          </a:p>
          <a:p>
            <a:r>
              <a:rPr lang="en-US" sz="2400" dirty="0"/>
              <a:t>Distributional </a:t>
            </a:r>
            <a:r>
              <a:rPr lang="en-US" sz="2400" dirty="0" err="1"/>
              <a:t>neighbours</a:t>
            </a:r>
            <a:r>
              <a:rPr lang="en-US" sz="2400" dirty="0"/>
              <a:t> tend to reflect predominant sense of word</a:t>
            </a:r>
          </a:p>
          <a:p>
            <a:pPr lvl="1"/>
            <a:r>
              <a:rPr lang="en-US" sz="2200" dirty="0">
                <a:solidFill>
                  <a:srgbClr val="00B050"/>
                </a:solidFill>
              </a:rPr>
              <a:t>how could this be useful?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93228-9AD7-074E-97CA-610F7B84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73B9E-A8C9-C447-A775-2CD56AD6B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9BACF-E2A8-3D4E-91CF-504280152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9902952" cy="1756325"/>
          </a:xfrm>
        </p:spPr>
        <p:txBody>
          <a:bodyPr>
            <a:normAutofit/>
          </a:bodyPr>
          <a:lstStyle/>
          <a:p>
            <a:r>
              <a:rPr lang="en-US" sz="2400" dirty="0"/>
              <a:t>Similar words are not necessarily synonyms</a:t>
            </a:r>
          </a:p>
          <a:p>
            <a:r>
              <a:rPr lang="en-US" sz="2400" dirty="0" err="1"/>
              <a:t>Neighbourhoods</a:t>
            </a:r>
            <a:r>
              <a:rPr lang="en-US" sz="2400" dirty="0"/>
              <a:t> typically contain:</a:t>
            </a:r>
          </a:p>
          <a:p>
            <a:pPr lvl="1"/>
            <a:r>
              <a:rPr lang="en-US" sz="2200" dirty="0"/>
              <a:t>synonyms, antonyms, hypernyms, hyponyms, co-hyponyms, meronyms, topically related words ….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BDB2D5-6493-974F-B815-6673039C4AE4}"/>
              </a:ext>
            </a:extLst>
          </p:cNvPr>
          <p:cNvSpPr txBox="1"/>
          <p:nvPr/>
        </p:nvSpPr>
        <p:spPr>
          <a:xfrm>
            <a:off x="5012267" y="4470401"/>
            <a:ext cx="712054" cy="5232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5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car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EF7B6-D126-D549-8CFD-AD75ED21FCF9}"/>
              </a:ext>
            </a:extLst>
          </p:cNvPr>
          <p:cNvSpPr txBox="1"/>
          <p:nvPr/>
        </p:nvSpPr>
        <p:spPr>
          <a:xfrm>
            <a:off x="7112000" y="4470401"/>
            <a:ext cx="694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CF55DA-3C86-C448-83AB-40968762056E}"/>
              </a:ext>
            </a:extLst>
          </p:cNvPr>
          <p:cNvSpPr txBox="1"/>
          <p:nvPr/>
        </p:nvSpPr>
        <p:spPr>
          <a:xfrm>
            <a:off x="7459307" y="5269021"/>
            <a:ext cx="1099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ferrari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1B368-9432-2840-B2F1-98BA42E81651}"/>
              </a:ext>
            </a:extLst>
          </p:cNvPr>
          <p:cNvSpPr txBox="1"/>
          <p:nvPr/>
        </p:nvSpPr>
        <p:spPr>
          <a:xfrm>
            <a:off x="6021324" y="3732683"/>
            <a:ext cx="1274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journey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C2C90-1A8C-D84A-9BC8-B715D13640E5}"/>
              </a:ext>
            </a:extLst>
          </p:cNvPr>
          <p:cNvSpPr txBox="1"/>
          <p:nvPr/>
        </p:nvSpPr>
        <p:spPr>
          <a:xfrm>
            <a:off x="6021324" y="5425367"/>
            <a:ext cx="930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drive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22D91F-6C78-6C41-8151-0E279D622448}"/>
              </a:ext>
            </a:extLst>
          </p:cNvPr>
          <p:cNvSpPr txBox="1"/>
          <p:nvPr/>
        </p:nvSpPr>
        <p:spPr>
          <a:xfrm>
            <a:off x="2375327" y="5425367"/>
            <a:ext cx="1034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wheel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12009F-EB52-C644-A791-76EB608C9261}"/>
              </a:ext>
            </a:extLst>
          </p:cNvPr>
          <p:cNvSpPr txBox="1"/>
          <p:nvPr/>
        </p:nvSpPr>
        <p:spPr>
          <a:xfrm>
            <a:off x="1828800" y="4248034"/>
            <a:ext cx="1787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automobile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AAA9B8-49DA-1149-ACA1-C111EFE37D07}"/>
              </a:ext>
            </a:extLst>
          </p:cNvPr>
          <p:cNvSpPr txBox="1"/>
          <p:nvPr/>
        </p:nvSpPr>
        <p:spPr>
          <a:xfrm>
            <a:off x="4020968" y="5194534"/>
            <a:ext cx="8066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mini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2750D2-5D70-304A-A55B-337D981CA5E5}"/>
              </a:ext>
            </a:extLst>
          </p:cNvPr>
          <p:cNvCxnSpPr>
            <a:stCxn id="4" idx="0"/>
            <a:endCxn id="7" idx="1"/>
          </p:cNvCxnSpPr>
          <p:nvPr/>
        </p:nvCxnSpPr>
        <p:spPr>
          <a:xfrm flipV="1">
            <a:off x="5368294" y="3963516"/>
            <a:ext cx="653030" cy="506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CA2CDA-2890-F843-B6D7-9677F0F249AC}"/>
              </a:ext>
            </a:extLst>
          </p:cNvPr>
          <p:cNvCxnSpPr>
            <a:stCxn id="4" idx="3"/>
          </p:cNvCxnSpPr>
          <p:nvPr/>
        </p:nvCxnSpPr>
        <p:spPr>
          <a:xfrm>
            <a:off x="5724321" y="4732011"/>
            <a:ext cx="13957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BADBA3-26CC-8646-BEC1-911989664B8F}"/>
              </a:ext>
            </a:extLst>
          </p:cNvPr>
          <p:cNvCxnSpPr>
            <a:cxnSpLocks/>
          </p:cNvCxnSpPr>
          <p:nvPr/>
        </p:nvCxnSpPr>
        <p:spPr>
          <a:xfrm>
            <a:off x="5720059" y="4947885"/>
            <a:ext cx="1739248" cy="47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4FE98A-7F4C-B74C-BEF0-AB44264B1456}"/>
              </a:ext>
            </a:extLst>
          </p:cNvPr>
          <p:cNvCxnSpPr>
            <a:stCxn id="4" idx="2"/>
          </p:cNvCxnSpPr>
          <p:nvPr/>
        </p:nvCxnSpPr>
        <p:spPr>
          <a:xfrm>
            <a:off x="5368294" y="4993621"/>
            <a:ext cx="855103" cy="506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0EB371-DCDD-2A4B-AEC4-0570D6BFC81D}"/>
              </a:ext>
            </a:extLst>
          </p:cNvPr>
          <p:cNvCxnSpPr>
            <a:endCxn id="11" idx="0"/>
          </p:cNvCxnSpPr>
          <p:nvPr/>
        </p:nvCxnSpPr>
        <p:spPr>
          <a:xfrm flipH="1">
            <a:off x="4424284" y="5008064"/>
            <a:ext cx="587983" cy="186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B7EBAA-1A67-6D45-96BE-7B7B57CC1E74}"/>
              </a:ext>
            </a:extLst>
          </p:cNvPr>
          <p:cNvCxnSpPr>
            <a:stCxn id="4" idx="1"/>
            <a:endCxn id="9" idx="0"/>
          </p:cNvCxnSpPr>
          <p:nvPr/>
        </p:nvCxnSpPr>
        <p:spPr>
          <a:xfrm flipH="1">
            <a:off x="2892584" y="4732011"/>
            <a:ext cx="2119683" cy="693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4BACFF3-4AB7-5F4C-8012-8128EDF7B0C3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3616469" y="4478867"/>
            <a:ext cx="1395798" cy="11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403AE75-2E4C-0749-9942-A0B1DFFECE72}"/>
              </a:ext>
            </a:extLst>
          </p:cNvPr>
          <p:cNvSpPr txBox="1"/>
          <p:nvPr/>
        </p:nvSpPr>
        <p:spPr>
          <a:xfrm>
            <a:off x="9770533" y="3732682"/>
            <a:ext cx="1910059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nearest </a:t>
            </a:r>
            <a:r>
              <a:rPr lang="en-US" dirty="0" err="1"/>
              <a:t>neighbour</a:t>
            </a:r>
            <a:r>
              <a:rPr lang="en-US" dirty="0"/>
              <a:t> of a word is often an antonym (or co-hyponym).  Why might this be a problem?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706A9-9905-B349-8318-6DD2E705FE53}"/>
              </a:ext>
            </a:extLst>
          </p:cNvPr>
          <p:cNvSpPr txBox="1"/>
          <p:nvPr/>
        </p:nvSpPr>
        <p:spPr>
          <a:xfrm>
            <a:off x="4555067" y="5887032"/>
            <a:ext cx="1077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vehicle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5278B96-EC11-6F47-96B2-1F279490F0AC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5093837" y="5008064"/>
            <a:ext cx="121630" cy="878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06A151A-04C0-BD40-A24A-571E749E6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141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Sparsity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Zipf’s</a:t>
            </a:r>
            <a:r>
              <a:rPr lang="en-US" dirty="0"/>
              <a:t> Law: “</a:t>
            </a:r>
            <a:r>
              <a:rPr lang="en-US" b="1" dirty="0"/>
              <a:t>The product of the frequency of a word and its rank is approximately constant.</a:t>
            </a:r>
            <a:r>
              <a:rPr lang="en-US" dirty="0"/>
              <a:t>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1" y="2915843"/>
          <a:ext cx="1830945" cy="2996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725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Rank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1/Rank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Freq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7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725">
                <a:tc>
                  <a:txBody>
                    <a:bodyPr/>
                    <a:lstStyle/>
                    <a:p>
                      <a:pPr algn="r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7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2.667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7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7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1.6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7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1.333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7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1.143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s-I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7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7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0.889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7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97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23.43</a:t>
                      </a: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hr-H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24</a:t>
                      </a:r>
                    </a:p>
                  </a:txBody>
                  <a:tcPr marL="12700" marR="12700" marT="1270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4349242" y="3092505"/>
          <a:ext cx="3804893" cy="2177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98164" y="5589378"/>
            <a:ext cx="7032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Hapax</a:t>
            </a:r>
            <a:r>
              <a:rPr lang="en-US" dirty="0"/>
              <a:t> </a:t>
            </a:r>
            <a:r>
              <a:rPr lang="en-US" dirty="0" err="1"/>
              <a:t>Legomena</a:t>
            </a:r>
            <a:r>
              <a:rPr lang="en-US" dirty="0"/>
              <a:t> : words which only occur once.  However large </a:t>
            </a:r>
          </a:p>
          <a:p>
            <a:r>
              <a:rPr lang="en-US" dirty="0"/>
              <a:t>the corpus, these make up approximate half the vocabulary.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A0824-E546-DB4C-80CD-F3B039B6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118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Consequences of </a:t>
            </a:r>
            <a:r>
              <a:rPr lang="en-US" dirty="0" err="1"/>
              <a:t>Zipf’s</a:t>
            </a:r>
            <a:r>
              <a:rPr lang="en-US" dirty="0"/>
              <a:t>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100k dimensional co-occurrence vectors will be very sparse (lots of zeros)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difficult to compare vectors because of all of this unseen stuff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What can we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08A9A-872B-0349-A241-983979D1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149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Solutions to this problem (week 4):</a:t>
            </a:r>
          </a:p>
          <a:p>
            <a:pPr lvl="1"/>
            <a:r>
              <a:rPr lang="en-US" sz="2000" dirty="0"/>
              <a:t>Smoothing</a:t>
            </a:r>
          </a:p>
          <a:p>
            <a:pPr lvl="1"/>
            <a:r>
              <a:rPr lang="en-US" sz="2000" dirty="0"/>
              <a:t>Dimensionality reduction</a:t>
            </a:r>
          </a:p>
          <a:p>
            <a:pPr lvl="1"/>
            <a:r>
              <a:rPr lang="en-US" sz="2000" dirty="0"/>
              <a:t>Language models with fixed dimensionality e.g., recurrent neural network language models (RNNLMs)</a:t>
            </a:r>
          </a:p>
          <a:p>
            <a:endParaRPr lang="en-US" sz="2000" dirty="0"/>
          </a:p>
          <a:p>
            <a:r>
              <a:rPr lang="en-US" sz="2000" dirty="0"/>
              <a:t>Probabilistic language models (week 2)</a:t>
            </a:r>
          </a:p>
          <a:p>
            <a:pPr lvl="1"/>
            <a:r>
              <a:rPr lang="en-US" sz="2000" dirty="0"/>
              <a:t>n-gram modelling</a:t>
            </a:r>
          </a:p>
          <a:p>
            <a:pPr lvl="1"/>
            <a:r>
              <a:rPr lang="en-US" sz="2000" dirty="0"/>
              <a:t>evaluation and perplexity</a:t>
            </a:r>
          </a:p>
          <a:p>
            <a:pPr lvl="1"/>
            <a:r>
              <a:rPr lang="en-US" sz="2000" dirty="0"/>
              <a:t>generalization and smoothing</a:t>
            </a:r>
          </a:p>
          <a:p>
            <a:pPr marL="118872" indent="0">
              <a:buNone/>
            </a:pPr>
            <a:r>
              <a:rPr lang="en-US" sz="20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8A831-7456-9746-B413-95FFD329C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943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9637A-8FAF-6044-8AE6-11C33555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70D6C-2650-144C-A9B2-2E45F071D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 seminar:</a:t>
            </a:r>
          </a:p>
          <a:p>
            <a:pPr lvl="1"/>
            <a:r>
              <a:rPr lang="en-US" dirty="0"/>
              <a:t>Pedersen (2010): Information Content Measures of Semantic Similarity Perform Better without Sense Tagged Text</a:t>
            </a:r>
          </a:p>
          <a:p>
            <a:pPr marL="118872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F0E38-687C-B74D-82F0-9BBB8805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86F5E-3D31-D14D-B404-79DFA617DA3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320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633222" indent="-514350">
              <a:buFont typeface="+mj-lt"/>
              <a:buAutoNum type="arabicPeriod"/>
            </a:pPr>
            <a:r>
              <a:rPr lang="en-US" sz="2400" dirty="0"/>
              <a:t>Christiane </a:t>
            </a:r>
            <a:r>
              <a:rPr lang="en-US" sz="2400" dirty="0" err="1"/>
              <a:t>Fellbaum</a:t>
            </a:r>
            <a:r>
              <a:rPr lang="en-US" sz="2400" dirty="0"/>
              <a:t> (1998, ed.) </a:t>
            </a:r>
            <a:r>
              <a:rPr lang="en-US" sz="2400" dirty="0" err="1"/>
              <a:t>WordNet</a:t>
            </a:r>
            <a:r>
              <a:rPr lang="en-US" sz="2400" dirty="0"/>
              <a:t>: An Electronic Lexical Database. Cambridge, MA: MIT Press.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Lin, D. (1998a) Automatic retrieval and clustering of similar words.  In Proceedings of COLING/ACL.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Lin, D (1998b) An information-theoretic definition of similarity. In ICML 1998, San Francisco, pp 296-304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 err="1"/>
              <a:t>Mikolov</a:t>
            </a:r>
            <a:r>
              <a:rPr lang="en-US" sz="2400" dirty="0"/>
              <a:t>, </a:t>
            </a:r>
            <a:r>
              <a:rPr lang="en-US" sz="2400" dirty="0" err="1"/>
              <a:t>Yih</a:t>
            </a:r>
            <a:r>
              <a:rPr lang="en-US" sz="2400" dirty="0"/>
              <a:t> and Zweig 2013 – Linguistic Regularities in Continuous Space Word Representations, (NAACL-HCT 2013)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Pedersen, T. (2010). Information Content Measures of Semantic Similarity Perform Better without Sense Tagged Text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 err="1"/>
              <a:t>Resnik</a:t>
            </a:r>
            <a:r>
              <a:rPr lang="en-US" sz="2400" dirty="0"/>
              <a:t>, P (1995) Using information content to evaluate semantic similarity in a taxonomy. In IJCAI-95, pp. 448-424</a:t>
            </a:r>
          </a:p>
          <a:p>
            <a:pPr marL="633222" indent="-514350">
              <a:buFont typeface="+mj-lt"/>
              <a:buAutoNum type="arabicPeriod"/>
            </a:pPr>
            <a:r>
              <a:rPr lang="en-US" sz="2400" dirty="0"/>
              <a:t>Zweig, G. and Burges, A. 2011.  The Microsoft Research Sentence Completion Challenge.  Microsoft Technical Report</a:t>
            </a:r>
          </a:p>
          <a:p>
            <a:pPr marL="633222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452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vNLP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ＭＳ ゴシック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ＭＳ ゴシック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dvNLP" id="{AD96A710-C1D2-974C-8AB2-B6975634219E}" vid="{7C29F5F5-1F05-6F43-94BF-5F42E5360B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AdvNLP</Template>
  <TotalTime>1912</TotalTime>
  <Words>3046</Words>
  <Application>Microsoft Macintosh PowerPoint</Application>
  <PresentationFormat>Widescreen</PresentationFormat>
  <Paragraphs>890</Paragraphs>
  <Slides>54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Arial</vt:lpstr>
      <vt:lpstr>Calibri</vt:lpstr>
      <vt:lpstr>Cambria Math</vt:lpstr>
      <vt:lpstr>Corbel</vt:lpstr>
      <vt:lpstr>Wingdings</vt:lpstr>
      <vt:lpstr>Wingdings 2</vt:lpstr>
      <vt:lpstr>Wingdings 3</vt:lpstr>
      <vt:lpstr>AdvNLP</vt:lpstr>
      <vt:lpstr>Equation</vt:lpstr>
      <vt:lpstr>Lexical &amp; Distributional Semantics</vt:lpstr>
      <vt:lpstr>Lecture 1 Overview</vt:lpstr>
      <vt:lpstr>Lexical Semantics</vt:lpstr>
      <vt:lpstr>Word senses</vt:lpstr>
      <vt:lpstr>Dictionaries</vt:lpstr>
      <vt:lpstr>How many different senses do words have?</vt:lpstr>
      <vt:lpstr>Sense distinctions</vt:lpstr>
      <vt:lpstr>Lexical semantic relationships </vt:lpstr>
      <vt:lpstr>Synonymy</vt:lpstr>
      <vt:lpstr>Antonymy</vt:lpstr>
      <vt:lpstr>Hyponymy and Hypernymy</vt:lpstr>
      <vt:lpstr>Hyponym Hierarchies</vt:lpstr>
      <vt:lpstr>WordNet</vt:lpstr>
      <vt:lpstr>WordNet</vt:lpstr>
      <vt:lpstr>Extract from the WordNet noun hierarchy</vt:lpstr>
      <vt:lpstr>Semantic similarity based on WordNet</vt:lpstr>
      <vt:lpstr>Path length:  shorter path -&gt; greater similarity</vt:lpstr>
      <vt:lpstr>Potential problems with pathlength </vt:lpstr>
      <vt:lpstr>Lowest common subsumer: similarity based on what two concepts share</vt:lpstr>
      <vt:lpstr>Information content</vt:lpstr>
      <vt:lpstr>Question</vt:lpstr>
      <vt:lpstr>WordNet similarity measures based on information content (IC)</vt:lpstr>
      <vt:lpstr>Word similarity</vt:lpstr>
      <vt:lpstr>Evaluation</vt:lpstr>
      <vt:lpstr>Human synonymy judgements</vt:lpstr>
      <vt:lpstr>Correlation</vt:lpstr>
      <vt:lpstr>Distributional Semantics</vt:lpstr>
      <vt:lpstr>Distributional Semantics</vt:lpstr>
      <vt:lpstr>What does tezguino mean?</vt:lpstr>
      <vt:lpstr>Bootstrapping the semantics of unknown words</vt:lpstr>
      <vt:lpstr>Applications of distributional semantics</vt:lpstr>
      <vt:lpstr>Distributional semantics in document classification</vt:lpstr>
      <vt:lpstr>Facets of meaning</vt:lpstr>
      <vt:lpstr>Features to capture facets of meaning</vt:lpstr>
      <vt:lpstr>Context windows</vt:lpstr>
      <vt:lpstr>Context windows</vt:lpstr>
      <vt:lpstr>Distributional Representations</vt:lpstr>
      <vt:lpstr>Cosine similarity</vt:lpstr>
      <vt:lpstr>Calculating cosine</vt:lpstr>
      <vt:lpstr>Pointwise Mutual information (PMI)</vt:lpstr>
      <vt:lpstr>calculating PMI</vt:lpstr>
      <vt:lpstr>Representations based on PMI</vt:lpstr>
      <vt:lpstr>Positive PMI (PPMI)</vt:lpstr>
      <vt:lpstr>Representations based on PPMI</vt:lpstr>
      <vt:lpstr>Automatic thesaurus generation</vt:lpstr>
      <vt:lpstr>Evaluation</vt:lpstr>
      <vt:lpstr>Word ambiguity</vt:lpstr>
      <vt:lpstr>Senses in Distributional Semantics</vt:lpstr>
      <vt:lpstr>Semantic relationships</vt:lpstr>
      <vt:lpstr>Sparsity</vt:lpstr>
      <vt:lpstr>Consequences of Zipf’s Law</vt:lpstr>
      <vt:lpstr>Coming up</vt:lpstr>
      <vt:lpstr>Reading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Distributional Semantics 1</dc:title>
  <dc:creator>Julie</dc:creator>
  <cp:lastModifiedBy>Julie Weeds</cp:lastModifiedBy>
  <cp:revision>38</cp:revision>
  <dcterms:created xsi:type="dcterms:W3CDTF">2019-01-09T18:41:51Z</dcterms:created>
  <dcterms:modified xsi:type="dcterms:W3CDTF">2026-01-14T13:31:37Z</dcterms:modified>
</cp:coreProperties>
</file>